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F.6 SP — Lesson 6: DSE 2013 Paper 1 Part B2 (Text 4, dystopian fiction).</a:t>
            </a:r>
          </a:p>
          <a:p>
            <a:r>
              <a:rPr sz="1200"/>
              <a:t>This lesson focuses on CLOZE / gap-fill questions: 10 vocabulary items, one exam tip, 4 demos, then 6 real exam questions (15 marks).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Vocabulary warm-up. Students match 1–10 to A–J in pairs, then click one letter at a time to confirm.</a:t>
            </a:r>
          </a:p>
          <a:p>
            <a:r>
              <a:rPr sz="1200"/>
              <a:t>Answers: 1-I, 2-G, 3-H, 4-C, 5-B, 6-F, 7-J, 8-A, 9-D, 10-E.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Teach the 4-step routine one card at a time (one click per card).</a:t>
            </a:r>
          </a:p>
          <a:p>
            <a:r>
              <a:rPr sz="1200"/>
              <a:t>Then the check line: read the completed sentence again — sense + grammar.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Read the demo paragraph together first (one student reads it aloud).</a:t>
            </a:r>
          </a:p>
          <a:p>
            <a:r>
              <a:rPr sz="1200"/>
              <a:t>Then one click per card reveals only that card’s answer.</a:t>
            </a:r>
          </a:p>
          <a:p>
            <a:r>
              <a:rPr sz="1200"/>
              <a:t>Easier 1 — “her own shelf” → own (possessive + noun = adjective; straight lift).</a:t>
            </a:r>
          </a:p>
          <a:p>
            <a:r>
              <a:rPr sz="1200"/>
              <a:t>Easier 2 — “more than two hundred students” → hundred (copy the exact form: no -s after “two”).</a:t>
            </a:r>
          </a:p>
          <a:p>
            <a:r>
              <a:rPr sz="1200"/>
              <a:t>Harder 1 — “the reviews spread quickly” → the club grew … quickly (adverb from the surrounding sentence).</a:t>
            </a:r>
          </a:p>
          <a:p>
            <a:r>
              <a:rPr sz="1200"/>
              <a:t>Harder 2 — “would distract students from their homework” → distract (verb after “would”); “members borrow twice as many books” → borrow (verb after “members”).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Ask students to answer before clicking. Then click once to reveal the answer and evidence.</a:t>
            </a:r>
          </a:p>
          <a:p>
            <a:r>
              <a:rPr sz="1200"/>
              <a:t>Expected: dystopia. Tip: “it” refers back to the noun before it — “Dystopia is an imaginary place …”.</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One blank at a time — ask the class for the word before each click. The proof oval appears with its answer.</a:t>
            </a:r>
          </a:p>
          <a:p>
            <a:r>
              <a:rPr sz="1200"/>
              <a:t>Answers: (i) Rebecca Stead · (ii) crime rate · (iii) freedom // autonomy // adventure · (iv) safer · (v) protected // controlled.</a:t>
            </a:r>
          </a:p>
          <a:p>
            <a:r>
              <a:rPr sz="1200"/>
              <a:t>Item %: 91 / 78 / 74 / 59 / 45. (iii) comes from “a great deal of autonomy” / “a rare freedom”; (v) from “hovered-over teens”.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One blank at a time. Reveal the answer with its proof oval.</a:t>
            </a:r>
          </a:p>
          <a:p>
            <a:r>
              <a:rPr sz="1200"/>
              <a:t>Answers: (i) first · (ii) future · (iii) each · (iv) outdoor arena · (v) on television / TV · (vi) wins // lives.</a:t>
            </a:r>
          </a:p>
          <a:p>
            <a:r>
              <a:rPr sz="1200"/>
              <a:t>(i) is the hardest (24%): the text calls Mockingjay “the third installment”, so The Hunger Games is the first book. (ii) “futuristic North America”. (v) “televised contest”. (vi) “the last child left alive”.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Ask for the shared quality first: a flu spreads fast and hits everyone — so did the book.</a:t>
            </a:r>
          </a:p>
          <a:p>
            <a:r>
              <a:rPr sz="1200"/>
              <a:t>Expected: the interest in dystopian novels for young-adult readers spread very quickly // the book was infectious // it was popular / a big hit.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Word-finding question: the answer must be the word printed in paragraph 7 — “catastrophe” (line 121) or “apocalypse” (line 124).</a:t>
            </a:r>
          </a:p>
          <a:p>
            <a:r>
              <a:rPr sz="1200"/>
              <a:t>Both are accepted; click to reveal the answer and circle the two words.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Reference question — the hardest item (18%). “feel the sting of this” points back to “Children, however, don’t run the world”.</a:t>
            </a:r>
          </a:p>
          <a:p>
            <a:r>
              <a:rPr sz="1200"/>
              <a:t>Expected: children not having control in the world // (children) don’t run the world.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1"/>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F.6 SP ENGLISH  •  2013 DSE PART B2</a:t>
            </a:r>
          </a:p>
        </p:txBody>
      </p:sp>
      <p:sp>
        <p:nvSpPr>
          <p:cNvPr id="5" name="Oval 4"/>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1"/>
          <p:cNvSpPr txBox="1"/>
          <p:nvPr/>
        </p:nvSpPr>
        <p:spPr>
          <a:xfrm>
            <a:off x="502920" y="822960"/>
            <a:ext cx="7315200" cy="731520"/>
          </a:xfrm>
          <a:prstGeom prst="rect">
            <a:avLst/>
          </a:prstGeom>
          <a:noFill/>
        </p:spPr>
        <p:txBody>
          <a:bodyPr wrap="square" anchor="t" lIns="0" rIns="0" tIns="0" bIns="0">
            <a:spAutoFit/>
          </a:bodyPr>
          <a:lstStyle/>
          <a:p>
            <a:pPr algn="l"/>
            <a:r>
              <a:rPr sz="3000" b="1" i="0">
                <a:solidFill>
                  <a:srgbClr val="17365D"/>
                </a:solidFill>
                <a:latin typeface="Aptos"/>
              </a:rPr>
              <a:t>English SP</a:t>
            </a:r>
          </a:p>
        </p:txBody>
      </p:sp>
      <p:sp>
        <p:nvSpPr>
          <p:cNvPr id="10" name="t2"/>
          <p:cNvSpPr txBox="1"/>
          <p:nvPr/>
        </p:nvSpPr>
        <p:spPr>
          <a:xfrm>
            <a:off x="502920" y="1645920"/>
            <a:ext cx="6766560" cy="1554480"/>
          </a:xfrm>
          <a:prstGeom prst="rect">
            <a:avLst/>
          </a:prstGeom>
          <a:noFill/>
        </p:spPr>
        <p:txBody>
          <a:bodyPr wrap="square" anchor="t" lIns="0" rIns="0" tIns="0" bIns="0">
            <a:spAutoFit/>
          </a:bodyPr>
          <a:lstStyle/>
          <a:p>
            <a:pPr algn="l"/>
            <a:r>
              <a:rPr sz="3200" b="1" i="0">
                <a:solidFill>
                  <a:srgbClr val="17365D"/>
                </a:solidFill>
                <a:latin typeface="Aptos"/>
              </a:rPr>
              <a:t>The Triumph of Dystopian Literature</a:t>
            </a:r>
          </a:p>
          <a:p>
            <a:pPr algn="l"/>
            <a:r>
              <a:rPr sz="1000" b="0" i="0">
                <a:solidFill>
                  <a:srgbClr val="17365D"/>
                </a:solidFill>
                <a:latin typeface="Aptos"/>
              </a:rPr>
              <a:t/>
            </a:r>
          </a:p>
          <a:p>
            <a:pPr algn="l"/>
            <a:r>
              <a:rPr sz="1700" b="0" i="0">
                <a:solidFill>
                  <a:srgbClr val="5B7083"/>
                </a:solidFill>
                <a:latin typeface="Aptos"/>
              </a:rPr>
              <a:t>What’s behind the boom in dystopian fiction for young readers?</a:t>
            </a:r>
          </a:p>
        </p:txBody>
      </p:sp>
      <p:sp>
        <p:nvSpPr>
          <p:cNvPr id="11" name="t3"/>
          <p:cNvSpPr txBox="1"/>
          <p:nvPr/>
        </p:nvSpPr>
        <p:spPr>
          <a:xfrm>
            <a:off x="502920" y="3291840"/>
            <a:ext cx="6766560" cy="457200"/>
          </a:xfrm>
          <a:prstGeom prst="rect">
            <a:avLst/>
          </a:prstGeom>
          <a:noFill/>
        </p:spPr>
        <p:txBody>
          <a:bodyPr wrap="square" anchor="t" lIns="0" rIns="0" tIns="0" bIns="0">
            <a:spAutoFit/>
          </a:bodyPr>
          <a:lstStyle/>
          <a:p>
            <a:pPr algn="l"/>
            <a:r>
              <a:rPr sz="2000" b="1" i="0">
                <a:solidFill>
                  <a:srgbClr val="2F75B5"/>
                </a:solidFill>
                <a:latin typeface="Aptos"/>
              </a:rPr>
              <a:t>Cloze / gap-fill questions</a:t>
            </a:r>
          </a:p>
        </p:txBody>
      </p:sp>
      <p:sp>
        <p:nvSpPr>
          <p:cNvPr id="12" name="Rounded Rectangle 11"/>
          <p:cNvSpPr/>
          <p:nvPr/>
        </p:nvSpPr>
        <p:spPr>
          <a:xfrm>
            <a:off x="7498079" y="1783080"/>
            <a:ext cx="3931920" cy="237744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4"/>
          <p:cNvSpPr txBox="1"/>
          <p:nvPr/>
        </p:nvSpPr>
        <p:spPr>
          <a:xfrm>
            <a:off x="7726679" y="2011680"/>
            <a:ext cx="3474720" cy="411480"/>
          </a:xfrm>
          <a:prstGeom prst="rect">
            <a:avLst/>
          </a:prstGeom>
          <a:noFill/>
        </p:spPr>
        <p:txBody>
          <a:bodyPr wrap="square" anchor="t" lIns="0" rIns="0" tIns="0" bIns="0">
            <a:spAutoFit/>
          </a:bodyPr>
          <a:lstStyle/>
          <a:p>
            <a:pPr algn="l"/>
            <a:r>
              <a:rPr sz="1400" b="1" i="0">
                <a:solidFill>
                  <a:srgbClr val="2F75B5"/>
                </a:solidFill>
                <a:latin typeface="Aptos"/>
              </a:rPr>
              <a:t>TODAY’S lesson</a:t>
            </a:r>
          </a:p>
        </p:txBody>
      </p:sp>
      <p:sp>
        <p:nvSpPr>
          <p:cNvPr id="14" name="t5"/>
          <p:cNvSpPr txBox="1"/>
          <p:nvPr/>
        </p:nvSpPr>
        <p:spPr>
          <a:xfrm>
            <a:off x="7726679" y="2514600"/>
            <a:ext cx="3474720" cy="1508760"/>
          </a:xfrm>
          <a:prstGeom prst="rect">
            <a:avLst/>
          </a:prstGeom>
          <a:noFill/>
        </p:spPr>
        <p:txBody>
          <a:bodyPr wrap="square" anchor="t" lIns="0" rIns="0" tIns="0" bIns="0">
            <a:spAutoFit/>
          </a:bodyPr>
          <a:lstStyle/>
          <a:p>
            <a:pPr algn="l"/>
            <a:r>
              <a:rPr sz="1600" b="0" i="0">
                <a:solidFill>
                  <a:srgbClr val="17365D"/>
                </a:solidFill>
                <a:latin typeface="Aptos"/>
              </a:rPr>
              <a:t>10 Vocabulary items</a:t>
            </a:r>
          </a:p>
          <a:p>
            <a:pPr algn="l"/>
            <a:r>
              <a:rPr sz="1600" b="0" i="0">
                <a:solidFill>
                  <a:srgbClr val="17365D"/>
                </a:solidFill>
                <a:latin typeface="Aptos"/>
              </a:rPr>
              <a:t>1 Exam tip — cloze questions</a:t>
            </a:r>
          </a:p>
          <a:p>
            <a:pPr algn="l"/>
            <a:r>
              <a:rPr sz="1600" b="0" i="0">
                <a:solidFill>
                  <a:srgbClr val="17365D"/>
                </a:solidFill>
                <a:latin typeface="Aptos"/>
              </a:rPr>
              <a:t>4 Demo questions</a:t>
            </a:r>
          </a:p>
          <a:p>
            <a:pPr algn="l"/>
            <a:r>
              <a:rPr sz="1600" b="1" i="0">
                <a:solidFill>
                  <a:srgbClr val="17365D"/>
                </a:solidFill>
                <a:latin typeface="Aptos"/>
              </a:rPr>
              <a:t>6 Exam questions (15 marks)</a:t>
            </a:r>
          </a:p>
        </p:txBody>
      </p:sp>
      <p:sp>
        <p:nvSpPr>
          <p:cNvPr id="15" name="t6"/>
          <p:cNvSpPr txBox="1"/>
          <p:nvPr/>
        </p:nvSpPr>
        <p:spPr>
          <a:xfrm>
            <a:off x="502920" y="6309360"/>
            <a:ext cx="8229600" cy="365760"/>
          </a:xfrm>
          <a:prstGeom prst="rect">
            <a:avLst/>
          </a:prstGeom>
          <a:noFill/>
        </p:spPr>
        <p:txBody>
          <a:bodyPr wrap="square" anchor="t" lIns="0" rIns="0" tIns="0" bIns="0">
            <a:spAutoFit/>
          </a:bodyPr>
          <a:lstStyle/>
          <a:p>
            <a:pPr algn="l"/>
            <a:r>
              <a:rPr sz="1300" b="0" i="0">
                <a:solidFill>
                  <a:srgbClr val="5B7083"/>
                </a:solidFill>
                <a:latin typeface="Aptos"/>
              </a:rPr>
              <a:t>DSE 2013 Part B2  •  Text 4 “The Triumph of Dystopian Literature”  •  Reading for marks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WARM-UP  •  PAIR WORK</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Key vocabulary: match the meanings</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371600"/>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w1"/>
          <p:cNvSpPr txBox="1"/>
          <p:nvPr/>
        </p:nvSpPr>
        <p:spPr>
          <a:xfrm>
            <a:off x="685800" y="1389888"/>
            <a:ext cx="3017520" cy="347472"/>
          </a:xfrm>
          <a:prstGeom prst="rect">
            <a:avLst/>
          </a:prstGeom>
          <a:noFill/>
        </p:spPr>
        <p:txBody>
          <a:bodyPr wrap="square" anchor="t" lIns="0" rIns="0" tIns="0" bIns="0">
            <a:spAutoFit/>
          </a:bodyPr>
          <a:lstStyle/>
          <a:p>
            <a:pPr algn="l"/>
            <a:r>
              <a:rPr sz="1500" b="1" i="0">
                <a:solidFill>
                  <a:srgbClr val="17365D"/>
                </a:solidFill>
                <a:latin typeface="Aptos"/>
              </a:rPr>
              <a:t>1   </a:t>
            </a:r>
            <a:r>
              <a:rPr sz="1500" b="0" i="0">
                <a:solidFill>
                  <a:srgbClr val="17365D"/>
                </a:solidFill>
                <a:latin typeface="Aptos"/>
              </a:rPr>
              <a:t>authoritarian</a:t>
            </a:r>
            <a:r>
              <a:rPr sz="1200" b="0" i="0">
                <a:solidFill>
                  <a:srgbClr val="5B7083"/>
                </a:solidFill>
                <a:latin typeface="Aptos"/>
              </a:rPr>
              <a:t>     Line 4</a:t>
            </a:r>
          </a:p>
        </p:txBody>
      </p:sp>
      <p:sp>
        <p:nvSpPr>
          <p:cNvPr id="12" name="blank1"/>
          <p:cNvSpPr txBox="1"/>
          <p:nvPr/>
        </p:nvSpPr>
        <p:spPr>
          <a:xfrm>
            <a:off x="3675887" y="1389888"/>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13" name="vocab_ans_1"/>
          <p:cNvSpPr txBox="1"/>
          <p:nvPr/>
        </p:nvSpPr>
        <p:spPr>
          <a:xfrm>
            <a:off x="3986784" y="1389888"/>
            <a:ext cx="457200" cy="347472"/>
          </a:xfrm>
          <a:prstGeom prst="rect">
            <a:avLst/>
          </a:prstGeom>
          <a:noFill/>
        </p:spPr>
        <p:txBody>
          <a:bodyPr wrap="square" anchor="t" lIns="0" rIns="0" tIns="0" bIns="0">
            <a:spAutoFit/>
          </a:bodyPr>
          <a:lstStyle/>
          <a:p>
            <a:pPr algn="l"/>
            <a:r>
              <a:rPr sz="1500" b="1" i="0">
                <a:solidFill>
                  <a:srgbClr val="FF0000"/>
                </a:solidFill>
                <a:latin typeface="Aptos"/>
              </a:rPr>
              <a:t>I</a:t>
            </a:r>
          </a:p>
        </p:txBody>
      </p:sp>
      <p:sp>
        <p:nvSpPr>
          <p:cNvPr id="14" name="Rounded Rectangle 13"/>
          <p:cNvSpPr/>
          <p:nvPr/>
        </p:nvSpPr>
        <p:spPr>
          <a:xfrm>
            <a:off x="502920" y="1847088"/>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w2"/>
          <p:cNvSpPr txBox="1"/>
          <p:nvPr/>
        </p:nvSpPr>
        <p:spPr>
          <a:xfrm>
            <a:off x="685800" y="1865376"/>
            <a:ext cx="3017520" cy="347472"/>
          </a:xfrm>
          <a:prstGeom prst="rect">
            <a:avLst/>
          </a:prstGeom>
          <a:noFill/>
        </p:spPr>
        <p:txBody>
          <a:bodyPr wrap="square" anchor="t" lIns="0" rIns="0" tIns="0" bIns="0">
            <a:spAutoFit/>
          </a:bodyPr>
          <a:lstStyle/>
          <a:p>
            <a:pPr algn="l"/>
            <a:r>
              <a:rPr sz="1500" b="1" i="0">
                <a:solidFill>
                  <a:srgbClr val="17365D"/>
                </a:solidFill>
                <a:latin typeface="Aptos"/>
              </a:rPr>
              <a:t>2   </a:t>
            </a:r>
            <a:r>
              <a:rPr sz="1500" b="0" i="0">
                <a:solidFill>
                  <a:srgbClr val="17365D"/>
                </a:solidFill>
                <a:latin typeface="Aptos"/>
              </a:rPr>
              <a:t>oppressive</a:t>
            </a:r>
            <a:r>
              <a:rPr sz="1200" b="0" i="0">
                <a:solidFill>
                  <a:srgbClr val="5B7083"/>
                </a:solidFill>
                <a:latin typeface="Aptos"/>
              </a:rPr>
              <a:t>     Line 5</a:t>
            </a:r>
          </a:p>
        </p:txBody>
      </p:sp>
      <p:sp>
        <p:nvSpPr>
          <p:cNvPr id="16" name="blank2"/>
          <p:cNvSpPr txBox="1"/>
          <p:nvPr/>
        </p:nvSpPr>
        <p:spPr>
          <a:xfrm>
            <a:off x="3675887" y="1865376"/>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17" name="vocab_ans_2"/>
          <p:cNvSpPr txBox="1"/>
          <p:nvPr/>
        </p:nvSpPr>
        <p:spPr>
          <a:xfrm>
            <a:off x="3986784" y="1865376"/>
            <a:ext cx="457200" cy="347472"/>
          </a:xfrm>
          <a:prstGeom prst="rect">
            <a:avLst/>
          </a:prstGeom>
          <a:noFill/>
        </p:spPr>
        <p:txBody>
          <a:bodyPr wrap="square" anchor="t" lIns="0" rIns="0" tIns="0" bIns="0">
            <a:spAutoFit/>
          </a:bodyPr>
          <a:lstStyle/>
          <a:p>
            <a:pPr algn="l"/>
            <a:r>
              <a:rPr sz="1500" b="1" i="0">
                <a:solidFill>
                  <a:srgbClr val="FF0000"/>
                </a:solidFill>
                <a:latin typeface="Aptos"/>
              </a:rPr>
              <a:t>G</a:t>
            </a:r>
          </a:p>
        </p:txBody>
      </p:sp>
      <p:sp>
        <p:nvSpPr>
          <p:cNvPr id="18" name="Rounded Rectangle 17"/>
          <p:cNvSpPr/>
          <p:nvPr/>
        </p:nvSpPr>
        <p:spPr>
          <a:xfrm>
            <a:off x="502920" y="2322576"/>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w3"/>
          <p:cNvSpPr txBox="1"/>
          <p:nvPr/>
        </p:nvSpPr>
        <p:spPr>
          <a:xfrm>
            <a:off x="685800" y="2340864"/>
            <a:ext cx="3017520" cy="347472"/>
          </a:xfrm>
          <a:prstGeom prst="rect">
            <a:avLst/>
          </a:prstGeom>
          <a:noFill/>
        </p:spPr>
        <p:txBody>
          <a:bodyPr wrap="square" anchor="t" lIns="0" rIns="0" tIns="0" bIns="0">
            <a:spAutoFit/>
          </a:bodyPr>
          <a:lstStyle/>
          <a:p>
            <a:pPr algn="l"/>
            <a:r>
              <a:rPr sz="1500" b="1" i="0">
                <a:solidFill>
                  <a:srgbClr val="17365D"/>
                </a:solidFill>
                <a:latin typeface="Aptos"/>
              </a:rPr>
              <a:t>3   </a:t>
            </a:r>
            <a:r>
              <a:rPr sz="1500" b="0" i="0">
                <a:solidFill>
                  <a:srgbClr val="17365D"/>
                </a:solidFill>
                <a:latin typeface="Aptos"/>
              </a:rPr>
              <a:t>conform</a:t>
            </a:r>
            <a:r>
              <a:rPr sz="1200" b="0" i="0">
                <a:solidFill>
                  <a:srgbClr val="5B7083"/>
                </a:solidFill>
                <a:latin typeface="Aptos"/>
              </a:rPr>
              <a:t>     Line 45</a:t>
            </a:r>
          </a:p>
        </p:txBody>
      </p:sp>
      <p:sp>
        <p:nvSpPr>
          <p:cNvPr id="20" name="blank3"/>
          <p:cNvSpPr txBox="1"/>
          <p:nvPr/>
        </p:nvSpPr>
        <p:spPr>
          <a:xfrm>
            <a:off x="3675887" y="2340864"/>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21" name="vocab_ans_3"/>
          <p:cNvSpPr txBox="1"/>
          <p:nvPr/>
        </p:nvSpPr>
        <p:spPr>
          <a:xfrm>
            <a:off x="3986784" y="2340864"/>
            <a:ext cx="457200" cy="347472"/>
          </a:xfrm>
          <a:prstGeom prst="rect">
            <a:avLst/>
          </a:prstGeom>
          <a:noFill/>
        </p:spPr>
        <p:txBody>
          <a:bodyPr wrap="square" anchor="t" lIns="0" rIns="0" tIns="0" bIns="0">
            <a:spAutoFit/>
          </a:bodyPr>
          <a:lstStyle/>
          <a:p>
            <a:pPr algn="l"/>
            <a:r>
              <a:rPr sz="1500" b="1" i="0">
                <a:solidFill>
                  <a:srgbClr val="FF0000"/>
                </a:solidFill>
                <a:latin typeface="Aptos"/>
              </a:rPr>
              <a:t>H</a:t>
            </a:r>
          </a:p>
        </p:txBody>
      </p:sp>
      <p:sp>
        <p:nvSpPr>
          <p:cNvPr id="22" name="Rounded Rectangle 21"/>
          <p:cNvSpPr/>
          <p:nvPr/>
        </p:nvSpPr>
        <p:spPr>
          <a:xfrm>
            <a:off x="502920" y="2798064"/>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w4"/>
          <p:cNvSpPr txBox="1"/>
          <p:nvPr/>
        </p:nvSpPr>
        <p:spPr>
          <a:xfrm>
            <a:off x="685800" y="2816352"/>
            <a:ext cx="3017520" cy="347472"/>
          </a:xfrm>
          <a:prstGeom prst="rect">
            <a:avLst/>
          </a:prstGeom>
          <a:noFill/>
        </p:spPr>
        <p:txBody>
          <a:bodyPr wrap="square" anchor="t" lIns="0" rIns="0" tIns="0" bIns="0">
            <a:spAutoFit/>
          </a:bodyPr>
          <a:lstStyle/>
          <a:p>
            <a:pPr algn="l"/>
            <a:r>
              <a:rPr sz="1500" b="1" i="0">
                <a:solidFill>
                  <a:srgbClr val="17365D"/>
                </a:solidFill>
                <a:latin typeface="Aptos"/>
              </a:rPr>
              <a:t>4   </a:t>
            </a:r>
            <a:r>
              <a:rPr sz="1500" b="0" i="0">
                <a:solidFill>
                  <a:srgbClr val="17365D"/>
                </a:solidFill>
                <a:latin typeface="Aptos"/>
              </a:rPr>
              <a:t>conducive</a:t>
            </a:r>
            <a:r>
              <a:rPr sz="1200" b="0" i="0">
                <a:solidFill>
                  <a:srgbClr val="5B7083"/>
                </a:solidFill>
                <a:latin typeface="Aptos"/>
              </a:rPr>
              <a:t>     Line 22</a:t>
            </a:r>
          </a:p>
        </p:txBody>
      </p:sp>
      <p:sp>
        <p:nvSpPr>
          <p:cNvPr id="24" name="blank4"/>
          <p:cNvSpPr txBox="1"/>
          <p:nvPr/>
        </p:nvSpPr>
        <p:spPr>
          <a:xfrm>
            <a:off x="3675887" y="2816352"/>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25" name="vocab_ans_4"/>
          <p:cNvSpPr txBox="1"/>
          <p:nvPr/>
        </p:nvSpPr>
        <p:spPr>
          <a:xfrm>
            <a:off x="3986784" y="2816352"/>
            <a:ext cx="457200" cy="347472"/>
          </a:xfrm>
          <a:prstGeom prst="rect">
            <a:avLst/>
          </a:prstGeom>
          <a:noFill/>
        </p:spPr>
        <p:txBody>
          <a:bodyPr wrap="square" anchor="t" lIns="0" rIns="0" tIns="0" bIns="0">
            <a:spAutoFit/>
          </a:bodyPr>
          <a:lstStyle/>
          <a:p>
            <a:pPr algn="l"/>
            <a:r>
              <a:rPr sz="1500" b="1" i="0">
                <a:solidFill>
                  <a:srgbClr val="FF0000"/>
                </a:solidFill>
                <a:latin typeface="Aptos"/>
              </a:rPr>
              <a:t>C</a:t>
            </a:r>
          </a:p>
        </p:txBody>
      </p:sp>
      <p:sp>
        <p:nvSpPr>
          <p:cNvPr id="26" name="Rounded Rectangle 25"/>
          <p:cNvSpPr/>
          <p:nvPr/>
        </p:nvSpPr>
        <p:spPr>
          <a:xfrm>
            <a:off x="502920" y="3273552"/>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w5"/>
          <p:cNvSpPr txBox="1"/>
          <p:nvPr/>
        </p:nvSpPr>
        <p:spPr>
          <a:xfrm>
            <a:off x="685800" y="3291840"/>
            <a:ext cx="3017520" cy="347472"/>
          </a:xfrm>
          <a:prstGeom prst="rect">
            <a:avLst/>
          </a:prstGeom>
          <a:noFill/>
        </p:spPr>
        <p:txBody>
          <a:bodyPr wrap="square" anchor="t" lIns="0" rIns="0" tIns="0" bIns="0">
            <a:spAutoFit/>
          </a:bodyPr>
          <a:lstStyle/>
          <a:p>
            <a:pPr algn="l"/>
            <a:r>
              <a:rPr sz="1500" b="1" i="0">
                <a:solidFill>
                  <a:srgbClr val="17365D"/>
                </a:solidFill>
                <a:latin typeface="Aptos"/>
              </a:rPr>
              <a:t>5   </a:t>
            </a:r>
            <a:r>
              <a:rPr sz="1500" b="0" i="0">
                <a:solidFill>
                  <a:srgbClr val="17365D"/>
                </a:solidFill>
                <a:latin typeface="Aptos"/>
              </a:rPr>
              <a:t>trilogy</a:t>
            </a:r>
            <a:r>
              <a:rPr sz="1200" b="0" i="0">
                <a:solidFill>
                  <a:srgbClr val="5B7083"/>
                </a:solidFill>
                <a:latin typeface="Aptos"/>
              </a:rPr>
              <a:t>     Line 25</a:t>
            </a:r>
          </a:p>
        </p:txBody>
      </p:sp>
      <p:sp>
        <p:nvSpPr>
          <p:cNvPr id="28" name="blank5"/>
          <p:cNvSpPr txBox="1"/>
          <p:nvPr/>
        </p:nvSpPr>
        <p:spPr>
          <a:xfrm>
            <a:off x="3675887" y="3291840"/>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29" name="vocab_ans_5"/>
          <p:cNvSpPr txBox="1"/>
          <p:nvPr/>
        </p:nvSpPr>
        <p:spPr>
          <a:xfrm>
            <a:off x="3986784" y="3291840"/>
            <a:ext cx="457200" cy="347472"/>
          </a:xfrm>
          <a:prstGeom prst="rect">
            <a:avLst/>
          </a:prstGeom>
          <a:noFill/>
        </p:spPr>
        <p:txBody>
          <a:bodyPr wrap="square" anchor="t" lIns="0" rIns="0" tIns="0" bIns="0">
            <a:spAutoFit/>
          </a:bodyPr>
          <a:lstStyle/>
          <a:p>
            <a:pPr algn="l"/>
            <a:r>
              <a:rPr sz="1500" b="1" i="0">
                <a:solidFill>
                  <a:srgbClr val="FF0000"/>
                </a:solidFill>
                <a:latin typeface="Aptos"/>
              </a:rPr>
              <a:t>B</a:t>
            </a:r>
          </a:p>
        </p:txBody>
      </p:sp>
      <p:sp>
        <p:nvSpPr>
          <p:cNvPr id="30" name="Rounded Rectangle 29"/>
          <p:cNvSpPr/>
          <p:nvPr/>
        </p:nvSpPr>
        <p:spPr>
          <a:xfrm>
            <a:off x="502920" y="3749039"/>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w6"/>
          <p:cNvSpPr txBox="1"/>
          <p:nvPr/>
        </p:nvSpPr>
        <p:spPr>
          <a:xfrm>
            <a:off x="685800" y="3767327"/>
            <a:ext cx="3017520" cy="347472"/>
          </a:xfrm>
          <a:prstGeom prst="rect">
            <a:avLst/>
          </a:prstGeom>
          <a:noFill/>
        </p:spPr>
        <p:txBody>
          <a:bodyPr wrap="square" anchor="t" lIns="0" rIns="0" tIns="0" bIns="0">
            <a:spAutoFit/>
          </a:bodyPr>
          <a:lstStyle/>
          <a:p>
            <a:pPr algn="l"/>
            <a:r>
              <a:rPr sz="1500" b="1" i="0">
                <a:solidFill>
                  <a:srgbClr val="17365D"/>
                </a:solidFill>
                <a:latin typeface="Aptos"/>
              </a:rPr>
              <a:t>6   </a:t>
            </a:r>
            <a:r>
              <a:rPr sz="1500" b="0" i="0">
                <a:solidFill>
                  <a:srgbClr val="17365D"/>
                </a:solidFill>
                <a:latin typeface="Aptos"/>
              </a:rPr>
              <a:t>cliff-hanger</a:t>
            </a:r>
            <a:r>
              <a:rPr sz="1200" b="0" i="0">
                <a:solidFill>
                  <a:srgbClr val="5B7083"/>
                </a:solidFill>
                <a:latin typeface="Aptos"/>
              </a:rPr>
              <a:t>     Line 52</a:t>
            </a:r>
          </a:p>
        </p:txBody>
      </p:sp>
      <p:sp>
        <p:nvSpPr>
          <p:cNvPr id="32" name="blank6"/>
          <p:cNvSpPr txBox="1"/>
          <p:nvPr/>
        </p:nvSpPr>
        <p:spPr>
          <a:xfrm>
            <a:off x="3675887" y="3767327"/>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33" name="vocab_ans_6"/>
          <p:cNvSpPr txBox="1"/>
          <p:nvPr/>
        </p:nvSpPr>
        <p:spPr>
          <a:xfrm>
            <a:off x="3986784" y="3767327"/>
            <a:ext cx="457200" cy="347472"/>
          </a:xfrm>
          <a:prstGeom prst="rect">
            <a:avLst/>
          </a:prstGeom>
          <a:noFill/>
        </p:spPr>
        <p:txBody>
          <a:bodyPr wrap="square" anchor="t" lIns="0" rIns="0" tIns="0" bIns="0">
            <a:spAutoFit/>
          </a:bodyPr>
          <a:lstStyle/>
          <a:p>
            <a:pPr algn="l"/>
            <a:r>
              <a:rPr sz="1500" b="1" i="0">
                <a:solidFill>
                  <a:srgbClr val="FF0000"/>
                </a:solidFill>
                <a:latin typeface="Aptos"/>
              </a:rPr>
              <a:t>F</a:t>
            </a:r>
          </a:p>
        </p:txBody>
      </p:sp>
      <p:sp>
        <p:nvSpPr>
          <p:cNvPr id="34" name="Rounded Rectangle 33"/>
          <p:cNvSpPr/>
          <p:nvPr/>
        </p:nvSpPr>
        <p:spPr>
          <a:xfrm>
            <a:off x="502920" y="4224528"/>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w7"/>
          <p:cNvSpPr txBox="1"/>
          <p:nvPr/>
        </p:nvSpPr>
        <p:spPr>
          <a:xfrm>
            <a:off x="685800" y="4242816"/>
            <a:ext cx="3017520" cy="347472"/>
          </a:xfrm>
          <a:prstGeom prst="rect">
            <a:avLst/>
          </a:prstGeom>
          <a:noFill/>
        </p:spPr>
        <p:txBody>
          <a:bodyPr wrap="square" anchor="t" lIns="0" rIns="0" tIns="0" bIns="0">
            <a:spAutoFit/>
          </a:bodyPr>
          <a:lstStyle/>
          <a:p>
            <a:pPr algn="l"/>
            <a:r>
              <a:rPr sz="1500" b="1" i="0">
                <a:solidFill>
                  <a:srgbClr val="17365D"/>
                </a:solidFill>
                <a:latin typeface="Aptos"/>
              </a:rPr>
              <a:t>7   </a:t>
            </a:r>
            <a:r>
              <a:rPr sz="1500" b="0" i="0">
                <a:solidFill>
                  <a:srgbClr val="17365D"/>
                </a:solidFill>
                <a:latin typeface="Aptos"/>
              </a:rPr>
              <a:t>façade</a:t>
            </a:r>
            <a:r>
              <a:rPr sz="1200" b="0" i="0">
                <a:solidFill>
                  <a:srgbClr val="5B7083"/>
                </a:solidFill>
                <a:latin typeface="Aptos"/>
              </a:rPr>
              <a:t>     Line 93</a:t>
            </a:r>
          </a:p>
        </p:txBody>
      </p:sp>
      <p:sp>
        <p:nvSpPr>
          <p:cNvPr id="36" name="blank7"/>
          <p:cNvSpPr txBox="1"/>
          <p:nvPr/>
        </p:nvSpPr>
        <p:spPr>
          <a:xfrm>
            <a:off x="3675887" y="4242816"/>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37" name="vocab_ans_7"/>
          <p:cNvSpPr txBox="1"/>
          <p:nvPr/>
        </p:nvSpPr>
        <p:spPr>
          <a:xfrm>
            <a:off x="3986784" y="4242816"/>
            <a:ext cx="457200" cy="347472"/>
          </a:xfrm>
          <a:prstGeom prst="rect">
            <a:avLst/>
          </a:prstGeom>
          <a:noFill/>
        </p:spPr>
        <p:txBody>
          <a:bodyPr wrap="square" anchor="t" lIns="0" rIns="0" tIns="0" bIns="0">
            <a:spAutoFit/>
          </a:bodyPr>
          <a:lstStyle/>
          <a:p>
            <a:pPr algn="l"/>
            <a:r>
              <a:rPr sz="1500" b="1" i="0">
                <a:solidFill>
                  <a:srgbClr val="FF0000"/>
                </a:solidFill>
                <a:latin typeface="Aptos"/>
              </a:rPr>
              <a:t>J</a:t>
            </a:r>
          </a:p>
        </p:txBody>
      </p:sp>
      <p:sp>
        <p:nvSpPr>
          <p:cNvPr id="38" name="Rounded Rectangle 37"/>
          <p:cNvSpPr/>
          <p:nvPr/>
        </p:nvSpPr>
        <p:spPr>
          <a:xfrm>
            <a:off x="502920" y="4700016"/>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w8"/>
          <p:cNvSpPr txBox="1"/>
          <p:nvPr/>
        </p:nvSpPr>
        <p:spPr>
          <a:xfrm>
            <a:off x="685800" y="4718304"/>
            <a:ext cx="3017520" cy="347472"/>
          </a:xfrm>
          <a:prstGeom prst="rect">
            <a:avLst/>
          </a:prstGeom>
          <a:noFill/>
        </p:spPr>
        <p:txBody>
          <a:bodyPr wrap="square" anchor="t" lIns="0" rIns="0" tIns="0" bIns="0">
            <a:spAutoFit/>
          </a:bodyPr>
          <a:lstStyle/>
          <a:p>
            <a:pPr algn="l"/>
            <a:r>
              <a:rPr sz="1500" b="1" i="0">
                <a:solidFill>
                  <a:srgbClr val="17365D"/>
                </a:solidFill>
                <a:latin typeface="Aptos"/>
              </a:rPr>
              <a:t>8   </a:t>
            </a:r>
            <a:r>
              <a:rPr sz="1500" b="0" i="0">
                <a:solidFill>
                  <a:srgbClr val="17365D"/>
                </a:solidFill>
                <a:latin typeface="Aptos"/>
              </a:rPr>
              <a:t>utopia</a:t>
            </a:r>
            <a:r>
              <a:rPr sz="1200" b="0" i="0">
                <a:solidFill>
                  <a:srgbClr val="5B7083"/>
                </a:solidFill>
                <a:latin typeface="Aptos"/>
              </a:rPr>
              <a:t>     Line 93</a:t>
            </a:r>
          </a:p>
        </p:txBody>
      </p:sp>
      <p:sp>
        <p:nvSpPr>
          <p:cNvPr id="40" name="blank8"/>
          <p:cNvSpPr txBox="1"/>
          <p:nvPr/>
        </p:nvSpPr>
        <p:spPr>
          <a:xfrm>
            <a:off x="3675887" y="4718304"/>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41" name="vocab_ans_8"/>
          <p:cNvSpPr txBox="1"/>
          <p:nvPr/>
        </p:nvSpPr>
        <p:spPr>
          <a:xfrm>
            <a:off x="3986784" y="4718304"/>
            <a:ext cx="457200" cy="347472"/>
          </a:xfrm>
          <a:prstGeom prst="rect">
            <a:avLst/>
          </a:prstGeom>
          <a:noFill/>
        </p:spPr>
        <p:txBody>
          <a:bodyPr wrap="square" anchor="t" lIns="0" rIns="0" tIns="0" bIns="0">
            <a:spAutoFit/>
          </a:bodyPr>
          <a:lstStyle/>
          <a:p>
            <a:pPr algn="l"/>
            <a:r>
              <a:rPr sz="1500" b="1" i="0">
                <a:solidFill>
                  <a:srgbClr val="FF0000"/>
                </a:solidFill>
                <a:latin typeface="Aptos"/>
              </a:rPr>
              <a:t>A</a:t>
            </a:r>
          </a:p>
        </p:txBody>
      </p:sp>
      <p:sp>
        <p:nvSpPr>
          <p:cNvPr id="42" name="Rounded Rectangle 41"/>
          <p:cNvSpPr/>
          <p:nvPr/>
        </p:nvSpPr>
        <p:spPr>
          <a:xfrm>
            <a:off x="502920" y="5175504"/>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w9"/>
          <p:cNvSpPr txBox="1"/>
          <p:nvPr/>
        </p:nvSpPr>
        <p:spPr>
          <a:xfrm>
            <a:off x="685800" y="5193792"/>
            <a:ext cx="3017520" cy="347472"/>
          </a:xfrm>
          <a:prstGeom prst="rect">
            <a:avLst/>
          </a:prstGeom>
          <a:noFill/>
        </p:spPr>
        <p:txBody>
          <a:bodyPr wrap="square" anchor="t" lIns="0" rIns="0" tIns="0" bIns="0">
            <a:spAutoFit/>
          </a:bodyPr>
          <a:lstStyle/>
          <a:p>
            <a:pPr algn="l"/>
            <a:r>
              <a:rPr sz="1500" b="1" i="0">
                <a:solidFill>
                  <a:srgbClr val="17365D"/>
                </a:solidFill>
                <a:latin typeface="Aptos"/>
              </a:rPr>
              <a:t>9   </a:t>
            </a:r>
            <a:r>
              <a:rPr sz="1500" b="0" i="0">
                <a:solidFill>
                  <a:srgbClr val="17365D"/>
                </a:solidFill>
                <a:latin typeface="Aptos"/>
              </a:rPr>
              <a:t>didactic</a:t>
            </a:r>
            <a:r>
              <a:rPr sz="1200" b="0" i="0">
                <a:solidFill>
                  <a:srgbClr val="5B7083"/>
                </a:solidFill>
                <a:latin typeface="Aptos"/>
              </a:rPr>
              <a:t>     Line 140</a:t>
            </a:r>
          </a:p>
        </p:txBody>
      </p:sp>
      <p:sp>
        <p:nvSpPr>
          <p:cNvPr id="44" name="blank9"/>
          <p:cNvSpPr txBox="1"/>
          <p:nvPr/>
        </p:nvSpPr>
        <p:spPr>
          <a:xfrm>
            <a:off x="3675887" y="5193792"/>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45" name="vocab_ans_9"/>
          <p:cNvSpPr txBox="1"/>
          <p:nvPr/>
        </p:nvSpPr>
        <p:spPr>
          <a:xfrm>
            <a:off x="3986784" y="5193792"/>
            <a:ext cx="457200" cy="347472"/>
          </a:xfrm>
          <a:prstGeom prst="rect">
            <a:avLst/>
          </a:prstGeom>
          <a:noFill/>
        </p:spPr>
        <p:txBody>
          <a:bodyPr wrap="square" anchor="t" lIns="0" rIns="0" tIns="0" bIns="0">
            <a:spAutoFit/>
          </a:bodyPr>
          <a:lstStyle/>
          <a:p>
            <a:pPr algn="l"/>
            <a:r>
              <a:rPr sz="1500" b="1" i="0">
                <a:solidFill>
                  <a:srgbClr val="FF0000"/>
                </a:solidFill>
                <a:latin typeface="Aptos"/>
              </a:rPr>
              <a:t>D</a:t>
            </a:r>
          </a:p>
        </p:txBody>
      </p:sp>
      <p:sp>
        <p:nvSpPr>
          <p:cNvPr id="46" name="Rounded Rectangle 45"/>
          <p:cNvSpPr/>
          <p:nvPr/>
        </p:nvSpPr>
        <p:spPr>
          <a:xfrm>
            <a:off x="502920" y="5650992"/>
            <a:ext cx="4206240" cy="38404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w10"/>
          <p:cNvSpPr txBox="1"/>
          <p:nvPr/>
        </p:nvSpPr>
        <p:spPr>
          <a:xfrm>
            <a:off x="685800" y="5669279"/>
            <a:ext cx="3017520" cy="347472"/>
          </a:xfrm>
          <a:prstGeom prst="rect">
            <a:avLst/>
          </a:prstGeom>
          <a:noFill/>
        </p:spPr>
        <p:txBody>
          <a:bodyPr wrap="square" anchor="t" lIns="0" rIns="0" tIns="0" bIns="0">
            <a:spAutoFit/>
          </a:bodyPr>
          <a:lstStyle/>
          <a:p>
            <a:pPr algn="l"/>
            <a:r>
              <a:rPr sz="1500" b="1" i="0">
                <a:solidFill>
                  <a:srgbClr val="17365D"/>
                </a:solidFill>
                <a:latin typeface="Aptos"/>
              </a:rPr>
              <a:t>10   </a:t>
            </a:r>
            <a:r>
              <a:rPr sz="1500" b="0" i="0">
                <a:solidFill>
                  <a:srgbClr val="17365D"/>
                </a:solidFill>
                <a:latin typeface="Aptos"/>
              </a:rPr>
              <a:t>extinction</a:t>
            </a:r>
            <a:r>
              <a:rPr sz="1200" b="0" i="0">
                <a:solidFill>
                  <a:srgbClr val="5B7083"/>
                </a:solidFill>
                <a:latin typeface="Aptos"/>
              </a:rPr>
              <a:t>     Line 117</a:t>
            </a:r>
          </a:p>
        </p:txBody>
      </p:sp>
      <p:sp>
        <p:nvSpPr>
          <p:cNvPr id="48" name="blank10"/>
          <p:cNvSpPr txBox="1"/>
          <p:nvPr/>
        </p:nvSpPr>
        <p:spPr>
          <a:xfrm>
            <a:off x="3675887" y="5669279"/>
            <a:ext cx="822960" cy="347472"/>
          </a:xfrm>
          <a:prstGeom prst="rect">
            <a:avLst/>
          </a:prstGeom>
          <a:noFill/>
        </p:spPr>
        <p:txBody>
          <a:bodyPr wrap="square" anchor="t" lIns="0" rIns="0" tIns="0" bIns="0">
            <a:spAutoFit/>
          </a:bodyPr>
          <a:lstStyle/>
          <a:p>
            <a:pPr algn="l"/>
            <a:r>
              <a:rPr sz="1500" b="1" i="0">
                <a:solidFill>
                  <a:srgbClr val="2F75B5"/>
                </a:solidFill>
                <a:latin typeface="Aptos"/>
              </a:rPr>
              <a:t>____</a:t>
            </a:r>
          </a:p>
        </p:txBody>
      </p:sp>
      <p:sp>
        <p:nvSpPr>
          <p:cNvPr id="49" name="vocab_ans_10"/>
          <p:cNvSpPr txBox="1"/>
          <p:nvPr/>
        </p:nvSpPr>
        <p:spPr>
          <a:xfrm>
            <a:off x="3986784" y="5669279"/>
            <a:ext cx="457200" cy="347472"/>
          </a:xfrm>
          <a:prstGeom prst="rect">
            <a:avLst/>
          </a:prstGeom>
          <a:noFill/>
        </p:spPr>
        <p:txBody>
          <a:bodyPr wrap="square" anchor="t" lIns="0" rIns="0" tIns="0" bIns="0">
            <a:spAutoFit/>
          </a:bodyPr>
          <a:lstStyle/>
          <a:p>
            <a:pPr algn="l"/>
            <a:r>
              <a:rPr sz="1500" b="1" i="0">
                <a:solidFill>
                  <a:srgbClr val="FF0000"/>
                </a:solidFill>
                <a:latin typeface="Aptos"/>
              </a:rPr>
              <a:t>E</a:t>
            </a:r>
          </a:p>
        </p:txBody>
      </p:sp>
      <p:sp>
        <p:nvSpPr>
          <p:cNvPr id="50" name="d1"/>
          <p:cNvSpPr txBox="1"/>
          <p:nvPr/>
        </p:nvSpPr>
        <p:spPr>
          <a:xfrm>
            <a:off x="5120640" y="1371600"/>
            <a:ext cx="6766560" cy="411480"/>
          </a:xfrm>
          <a:prstGeom prst="rect">
            <a:avLst/>
          </a:prstGeom>
          <a:noFill/>
        </p:spPr>
        <p:txBody>
          <a:bodyPr wrap="square" anchor="t" lIns="0" rIns="0" tIns="0" bIns="0">
            <a:spAutoFit/>
          </a:bodyPr>
          <a:lstStyle/>
          <a:p>
            <a:pPr algn="l"/>
            <a:r>
              <a:rPr sz="1400" b="0" i="0">
                <a:solidFill>
                  <a:srgbClr val="17365D"/>
                </a:solidFill>
                <a:latin typeface="Aptos"/>
              </a:rPr>
              <a:t>A. an imagined perfect world, in which everything is good.</a:t>
            </a:r>
          </a:p>
        </p:txBody>
      </p:sp>
      <p:sp>
        <p:nvSpPr>
          <p:cNvPr id="51" name="d2"/>
          <p:cNvSpPr txBox="1"/>
          <p:nvPr/>
        </p:nvSpPr>
        <p:spPr>
          <a:xfrm>
            <a:off x="5120640" y="1847088"/>
            <a:ext cx="6766560" cy="411480"/>
          </a:xfrm>
          <a:prstGeom prst="rect">
            <a:avLst/>
          </a:prstGeom>
          <a:noFill/>
        </p:spPr>
        <p:txBody>
          <a:bodyPr wrap="square" anchor="t" lIns="0" rIns="0" tIns="0" bIns="0">
            <a:spAutoFit/>
          </a:bodyPr>
          <a:lstStyle/>
          <a:p>
            <a:pPr algn="l"/>
            <a:r>
              <a:rPr sz="1400" b="0" i="0">
                <a:solidFill>
                  <a:srgbClr val="17365D"/>
                </a:solidFill>
                <a:latin typeface="Aptos"/>
              </a:rPr>
              <a:t>B. a set of three connected books, films or plays.</a:t>
            </a:r>
          </a:p>
        </p:txBody>
      </p:sp>
      <p:sp>
        <p:nvSpPr>
          <p:cNvPr id="52" name="d3"/>
          <p:cNvSpPr txBox="1"/>
          <p:nvPr/>
        </p:nvSpPr>
        <p:spPr>
          <a:xfrm>
            <a:off x="5120640" y="2322576"/>
            <a:ext cx="6766560" cy="411480"/>
          </a:xfrm>
          <a:prstGeom prst="rect">
            <a:avLst/>
          </a:prstGeom>
          <a:noFill/>
        </p:spPr>
        <p:txBody>
          <a:bodyPr wrap="square" anchor="t" lIns="0" rIns="0" tIns="0" bIns="0">
            <a:spAutoFit/>
          </a:bodyPr>
          <a:lstStyle/>
          <a:p>
            <a:pPr algn="l"/>
            <a:r>
              <a:rPr sz="1400" b="0" i="0">
                <a:solidFill>
                  <a:srgbClr val="17365D"/>
                </a:solidFill>
                <a:latin typeface="Aptos"/>
              </a:rPr>
              <a:t>C. making something more likely to happen; helpful for.</a:t>
            </a:r>
          </a:p>
        </p:txBody>
      </p:sp>
      <p:sp>
        <p:nvSpPr>
          <p:cNvPr id="53" name="d4"/>
          <p:cNvSpPr txBox="1"/>
          <p:nvPr/>
        </p:nvSpPr>
        <p:spPr>
          <a:xfrm>
            <a:off x="5120640" y="2798064"/>
            <a:ext cx="6766560" cy="411480"/>
          </a:xfrm>
          <a:prstGeom prst="rect">
            <a:avLst/>
          </a:prstGeom>
          <a:noFill/>
        </p:spPr>
        <p:txBody>
          <a:bodyPr wrap="square" anchor="t" lIns="0" rIns="0" tIns="0" bIns="0">
            <a:spAutoFit/>
          </a:bodyPr>
          <a:lstStyle/>
          <a:p>
            <a:pPr algn="l"/>
            <a:r>
              <a:rPr sz="1400" b="0" i="0">
                <a:solidFill>
                  <a:srgbClr val="17365D"/>
                </a:solidFill>
                <a:latin typeface="Aptos"/>
              </a:rPr>
              <a:t>D. written to teach a moral lesson.</a:t>
            </a:r>
          </a:p>
        </p:txBody>
      </p:sp>
      <p:sp>
        <p:nvSpPr>
          <p:cNvPr id="54" name="d5"/>
          <p:cNvSpPr txBox="1"/>
          <p:nvPr/>
        </p:nvSpPr>
        <p:spPr>
          <a:xfrm>
            <a:off x="5120640" y="3273552"/>
            <a:ext cx="6766560" cy="411480"/>
          </a:xfrm>
          <a:prstGeom prst="rect">
            <a:avLst/>
          </a:prstGeom>
          <a:noFill/>
        </p:spPr>
        <p:txBody>
          <a:bodyPr wrap="square" anchor="t" lIns="0" rIns="0" tIns="0" bIns="0">
            <a:spAutoFit/>
          </a:bodyPr>
          <a:lstStyle/>
          <a:p>
            <a:pPr algn="l"/>
            <a:r>
              <a:rPr sz="1400" b="0" i="0">
                <a:solidFill>
                  <a:srgbClr val="17365D"/>
                </a:solidFill>
                <a:latin typeface="Aptos"/>
              </a:rPr>
              <a:t>E. the state of no longer existing; being completely destroyed.</a:t>
            </a:r>
          </a:p>
        </p:txBody>
      </p:sp>
      <p:sp>
        <p:nvSpPr>
          <p:cNvPr id="55" name="d6"/>
          <p:cNvSpPr txBox="1"/>
          <p:nvPr/>
        </p:nvSpPr>
        <p:spPr>
          <a:xfrm>
            <a:off x="5120640" y="3749039"/>
            <a:ext cx="6766560" cy="411480"/>
          </a:xfrm>
          <a:prstGeom prst="rect">
            <a:avLst/>
          </a:prstGeom>
          <a:noFill/>
        </p:spPr>
        <p:txBody>
          <a:bodyPr wrap="square" anchor="t" lIns="0" rIns="0" tIns="0" bIns="0">
            <a:spAutoFit/>
          </a:bodyPr>
          <a:lstStyle/>
          <a:p>
            <a:pPr algn="l"/>
            <a:r>
              <a:rPr sz="1400" b="0" i="0">
                <a:solidFill>
                  <a:srgbClr val="17365D"/>
                </a:solidFill>
                <a:latin typeface="Aptos"/>
              </a:rPr>
              <a:t>F. an exciting ending that leaves readers unsure what happens next.</a:t>
            </a:r>
          </a:p>
        </p:txBody>
      </p:sp>
      <p:sp>
        <p:nvSpPr>
          <p:cNvPr id="56" name="d7"/>
          <p:cNvSpPr txBox="1"/>
          <p:nvPr/>
        </p:nvSpPr>
        <p:spPr>
          <a:xfrm>
            <a:off x="5120640" y="4224528"/>
            <a:ext cx="6766560" cy="411480"/>
          </a:xfrm>
          <a:prstGeom prst="rect">
            <a:avLst/>
          </a:prstGeom>
          <a:noFill/>
        </p:spPr>
        <p:txBody>
          <a:bodyPr wrap="square" anchor="t" lIns="0" rIns="0" tIns="0" bIns="0">
            <a:spAutoFit/>
          </a:bodyPr>
          <a:lstStyle/>
          <a:p>
            <a:pPr algn="l"/>
            <a:r>
              <a:rPr sz="1400" b="0" i="0">
                <a:solidFill>
                  <a:srgbClr val="17365D"/>
                </a:solidFill>
                <a:latin typeface="Aptos"/>
              </a:rPr>
              <a:t>G. treating people in a harsh and controlling way.</a:t>
            </a:r>
          </a:p>
        </p:txBody>
      </p:sp>
      <p:sp>
        <p:nvSpPr>
          <p:cNvPr id="57" name="d8"/>
          <p:cNvSpPr txBox="1"/>
          <p:nvPr/>
        </p:nvSpPr>
        <p:spPr>
          <a:xfrm>
            <a:off x="5120640" y="4700016"/>
            <a:ext cx="6766560" cy="411480"/>
          </a:xfrm>
          <a:prstGeom prst="rect">
            <a:avLst/>
          </a:prstGeom>
          <a:noFill/>
        </p:spPr>
        <p:txBody>
          <a:bodyPr wrap="square" anchor="t" lIns="0" rIns="0" tIns="0" bIns="0">
            <a:spAutoFit/>
          </a:bodyPr>
          <a:lstStyle/>
          <a:p>
            <a:pPr algn="l"/>
            <a:r>
              <a:rPr sz="1400" b="0" i="0">
                <a:solidFill>
                  <a:srgbClr val="17365D"/>
                </a:solidFill>
                <a:latin typeface="Aptos"/>
              </a:rPr>
              <a:t>H. to behave in the same way as everyone else; to follow a fixed standard.</a:t>
            </a:r>
          </a:p>
        </p:txBody>
      </p:sp>
      <p:sp>
        <p:nvSpPr>
          <p:cNvPr id="58" name="d9"/>
          <p:cNvSpPr txBox="1"/>
          <p:nvPr/>
        </p:nvSpPr>
        <p:spPr>
          <a:xfrm>
            <a:off x="5120640" y="5175504"/>
            <a:ext cx="6766560" cy="411480"/>
          </a:xfrm>
          <a:prstGeom prst="rect">
            <a:avLst/>
          </a:prstGeom>
          <a:noFill/>
        </p:spPr>
        <p:txBody>
          <a:bodyPr wrap="square" anchor="t" lIns="0" rIns="0" tIns="0" bIns="0">
            <a:spAutoFit/>
          </a:bodyPr>
          <a:lstStyle/>
          <a:p>
            <a:pPr algn="l"/>
            <a:r>
              <a:rPr sz="1400" b="0" i="0">
                <a:solidFill>
                  <a:srgbClr val="17365D"/>
                </a:solidFill>
                <a:latin typeface="Aptos"/>
              </a:rPr>
              <a:t>I. demanding total obedience; allowing no personal choice.</a:t>
            </a:r>
          </a:p>
        </p:txBody>
      </p:sp>
      <p:sp>
        <p:nvSpPr>
          <p:cNvPr id="59" name="d10"/>
          <p:cNvSpPr txBox="1"/>
          <p:nvPr/>
        </p:nvSpPr>
        <p:spPr>
          <a:xfrm>
            <a:off x="5120640" y="5650992"/>
            <a:ext cx="6766560" cy="411480"/>
          </a:xfrm>
          <a:prstGeom prst="rect">
            <a:avLst/>
          </a:prstGeom>
          <a:noFill/>
        </p:spPr>
        <p:txBody>
          <a:bodyPr wrap="square" anchor="t" lIns="0" rIns="0" tIns="0" bIns="0">
            <a:spAutoFit/>
          </a:bodyPr>
          <a:lstStyle/>
          <a:p>
            <a:pPr algn="l"/>
            <a:r>
              <a:rPr sz="1400" b="0" i="0">
                <a:solidFill>
                  <a:srgbClr val="17365D"/>
                </a:solidFill>
                <a:latin typeface="Aptos"/>
              </a:rPr>
              <a:t>J. an outward appearance that hides the truth.</a:t>
            </a:r>
          </a:p>
        </p:txBody>
      </p:sp>
      <p:sp>
        <p:nvSpPr>
          <p:cNvPr id="60" name="foot"/>
          <p:cNvSpPr txBox="1"/>
          <p:nvPr/>
        </p:nvSpPr>
        <p:spPr>
          <a:xfrm>
            <a:off x="502920" y="6355080"/>
            <a:ext cx="10972800" cy="365760"/>
          </a:xfrm>
          <a:prstGeom prst="rect">
            <a:avLst/>
          </a:prstGeom>
          <a:noFill/>
        </p:spPr>
        <p:txBody>
          <a:bodyPr wrap="square" anchor="t" lIns="0" rIns="0" tIns="0" bIns="0">
            <a:spAutoFit/>
          </a:bodyPr>
          <a:lstStyle/>
          <a:p>
            <a:pPr algn="l"/>
            <a:r>
              <a:rPr sz="1300" b="0" i="0">
                <a:solidFill>
                  <a:srgbClr val="5B7083"/>
                </a:solidFill>
                <a:latin typeface="Aptos"/>
              </a:rPr>
              <a:t>Match the 10 words to the definitions — write the letter in the blank.</a:t>
            </a:r>
          </a:p>
        </p:txBody>
      </p:sp>
    </p:spTree>
  </p:cSld>
  <p:clrMapOvr>
    <a:masterClrMapping/>
  </p:clrMapOvr>
  <p:timing>
    <p:tnLst>
      <p:par>
        <p:cTn id="1" dur="indefinite" restart="never" nodeType="tmRoot">
          <p:childTnLst>
            <p:seq concurrent="1" nextAc="seek">
              <p:cTn id="2" dur="indefinite" nodeType="mainSeq">
                <p:childTnLst>
                  <p:par>
                    <p:cTn id="6" presetID="10"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5" dur="500"/>
                            <p:tgtEl>
                              <p:spTgt spid="13"/>
                            </p:tgtEl>
                          </p:cBhvr>
                        </p:animEffect>
                      </p:childTnLst>
                    </p:cTn>
                  </p:par>
                  <p:par>
                    <p:cTn id="10" presetID="10" presetClass="entr" presetSubtype="0" fill="hold" nodeType="clickEffect">
                      <p:stCondLst>
                        <p:cond delay="0"/>
                      </p:stCondLst>
                      <p:childTnLst>
                        <p:set>
                          <p:cBhvr>
                            <p:cTn id="7" dur="1" fill="hold">
                              <p:stCondLst>
                                <p:cond delay="0"/>
                              </p:stCondLst>
                            </p:cTn>
                            <p:tgtEl>
                              <p:spTgt spid="17"/>
                            </p:tgtEl>
                            <p:attrNameLst>
                              <p:attrName>style.visibility</p:attrName>
                            </p:attrNameLst>
                          </p:cBhvr>
                          <p:to>
                            <p:strVal val="visible"/>
                          </p:to>
                        </p:set>
                        <p:animEffect transition="in" filter="fade">
                          <p:cBhvr>
                            <p:cTn id="9" dur="500"/>
                            <p:tgtEl>
                              <p:spTgt spid="17"/>
                            </p:tgtEl>
                          </p:cBhvr>
                        </p:animEffect>
                      </p:childTnLst>
                    </p:cTn>
                  </p:par>
                  <p:par>
                    <p:cTn id="14" presetID="10" presetClass="entr" presetSubtype="0" fill="hold" nodeType="click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3" dur="500"/>
                            <p:tgtEl>
                              <p:spTgt spid="21"/>
                            </p:tgtEl>
                          </p:cBhvr>
                        </p:animEffect>
                      </p:childTnLst>
                    </p:cTn>
                  </p:par>
                  <p:par>
                    <p:cTn id="18" presetID="10" presetClass="entr" presetSubtype="0" fill="hold" nodeType="clickEffect">
                      <p:stCondLst>
                        <p:cond delay="0"/>
                      </p:stCondLst>
                      <p:childTnLst>
                        <p:set>
                          <p:cBhvr>
                            <p:cTn id="15" dur="1" fill="hold">
                              <p:stCondLst>
                                <p:cond delay="0"/>
                              </p:stCondLst>
                            </p:cTn>
                            <p:tgtEl>
                              <p:spTgt spid="25"/>
                            </p:tgtEl>
                            <p:attrNameLst>
                              <p:attrName>style.visibility</p:attrName>
                            </p:attrNameLst>
                          </p:cBhvr>
                          <p:to>
                            <p:strVal val="visible"/>
                          </p:to>
                        </p:set>
                        <p:animEffect transition="in" filter="fade">
                          <p:cBhvr>
                            <p:cTn id="17" dur="500"/>
                            <p:tgtEl>
                              <p:spTgt spid="25"/>
                            </p:tgtEl>
                          </p:cBhvr>
                        </p:animEffect>
                      </p:childTnLst>
                    </p:cTn>
                  </p:par>
                  <p:par>
                    <p:cTn id="22" presetID="10" presetClass="entr" presetSubtype="0" fill="hold" nodeType="clickEffect">
                      <p:stCondLst>
                        <p:cond delay="0"/>
                      </p:stCondLst>
                      <p:childTnLst>
                        <p:set>
                          <p:cBhvr>
                            <p:cTn id="19" dur="1" fill="hold">
                              <p:stCondLst>
                                <p:cond delay="0"/>
                              </p:stCondLst>
                            </p:cTn>
                            <p:tgtEl>
                              <p:spTgt spid="29"/>
                            </p:tgtEl>
                            <p:attrNameLst>
                              <p:attrName>style.visibility</p:attrName>
                            </p:attrNameLst>
                          </p:cBhvr>
                          <p:to>
                            <p:strVal val="visible"/>
                          </p:to>
                        </p:set>
                        <p:animEffect transition="in" filter="fade">
                          <p:cBhvr>
                            <p:cTn id="21" dur="500"/>
                            <p:tgtEl>
                              <p:spTgt spid="29"/>
                            </p:tgtEl>
                          </p:cBhvr>
                        </p:animEffect>
                      </p:childTnLst>
                    </p:cTn>
                  </p:par>
                  <p:par>
                    <p:cTn id="26" presetID="10" presetClass="entr" presetSubtype="0" fill="hold" nodeType="clickEffect">
                      <p:stCondLst>
                        <p:cond delay="0"/>
                      </p:stCondLst>
                      <p:childTnLst>
                        <p:set>
                          <p:cBhvr>
                            <p:cTn id="23" dur="1" fill="hold">
                              <p:stCondLst>
                                <p:cond delay="0"/>
                              </p:stCondLst>
                            </p:cTn>
                            <p:tgtEl>
                              <p:spTgt spid="33"/>
                            </p:tgtEl>
                            <p:attrNameLst>
                              <p:attrName>style.visibility</p:attrName>
                            </p:attrNameLst>
                          </p:cBhvr>
                          <p:to>
                            <p:strVal val="visible"/>
                          </p:to>
                        </p:set>
                        <p:animEffect transition="in" filter="fade">
                          <p:cBhvr>
                            <p:cTn id="25" dur="500"/>
                            <p:tgtEl>
                              <p:spTgt spid="33"/>
                            </p:tgtEl>
                          </p:cBhvr>
                        </p:animEffect>
                      </p:childTnLst>
                    </p:cTn>
                  </p:par>
                  <p:par>
                    <p:cTn id="30" presetID="10" presetClass="entr" presetSubtype="0" fill="hold" nodeType="click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9" dur="500"/>
                            <p:tgtEl>
                              <p:spTgt spid="37"/>
                            </p:tgtEl>
                          </p:cBhvr>
                        </p:animEffect>
                      </p:childTnLst>
                    </p:cTn>
                  </p:par>
                  <p:par>
                    <p:cTn id="34" presetID="10" presetClass="entr" presetSubtype="0" fill="hold" nodeType="clickEffect">
                      <p:stCondLst>
                        <p:cond delay="0"/>
                      </p:stCondLst>
                      <p:childTnLst>
                        <p:set>
                          <p:cBhvr>
                            <p:cTn id="31" dur="1" fill="hold">
                              <p:stCondLst>
                                <p:cond delay="0"/>
                              </p:stCondLst>
                            </p:cTn>
                            <p:tgtEl>
                              <p:spTgt spid="41"/>
                            </p:tgtEl>
                            <p:attrNameLst>
                              <p:attrName>style.visibility</p:attrName>
                            </p:attrNameLst>
                          </p:cBhvr>
                          <p:to>
                            <p:strVal val="visible"/>
                          </p:to>
                        </p:set>
                        <p:animEffect transition="in" filter="fade">
                          <p:cBhvr>
                            <p:cTn id="33" dur="500"/>
                            <p:tgtEl>
                              <p:spTgt spid="41"/>
                            </p:tgtEl>
                          </p:cBhvr>
                        </p:animEffect>
                      </p:childTnLst>
                    </p:cTn>
                  </p:par>
                  <p:par>
                    <p:cTn id="38" presetID="10" presetClass="entr" presetSubtype="0" fill="hold" nodeType="clickEffect">
                      <p:stCondLst>
                        <p:cond delay="0"/>
                      </p:stCondLst>
                      <p:childTnLst>
                        <p:set>
                          <p:cBhvr>
                            <p:cTn id="35" dur="1" fill="hold">
                              <p:stCondLst>
                                <p:cond delay="0"/>
                              </p:stCondLst>
                            </p:cTn>
                            <p:tgtEl>
                              <p:spTgt spid="45"/>
                            </p:tgtEl>
                            <p:attrNameLst>
                              <p:attrName>style.visibility</p:attrName>
                            </p:attrNameLst>
                          </p:cBhvr>
                          <p:to>
                            <p:strVal val="visible"/>
                          </p:to>
                        </p:set>
                        <p:animEffect transition="in" filter="fade">
                          <p:cBhvr>
                            <p:cTn id="37" dur="500"/>
                            <p:tgtEl>
                              <p:spTgt spid="45"/>
                            </p:tgtEl>
                          </p:cBhvr>
                        </p:animEffect>
                      </p:childTnLst>
                    </p:cTn>
                  </p:par>
                  <p:par>
                    <p:cTn id="42" presetID="10" presetClass="entr" presetSubtype="0" fill="hold" nodeType="clickEffect">
                      <p:stCondLst>
                        <p:cond delay="0"/>
                      </p:stCondLst>
                      <p:childTnLst>
                        <p:set>
                          <p:cBhvr>
                            <p:cTn id="39" dur="1" fill="hold">
                              <p:stCondLst>
                                <p:cond delay="0"/>
                              </p:stCondLst>
                            </p:cTn>
                            <p:tgtEl>
                              <p:spTgt spid="49"/>
                            </p:tgtEl>
                            <p:attrNameLst>
                              <p:attrName>style.visibility</p:attrName>
                            </p:attrNameLst>
                          </p:cBhvr>
                          <p:to>
                            <p:strVal val="visible"/>
                          </p:to>
                        </p:set>
                        <p:animEffect transition="in" filter="fade">
                          <p:cBhvr>
                            <p:cTn id="41" dur="500"/>
                            <p:tgtEl>
                              <p:spTgt spid="49"/>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TIPS</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What helps you gain the mark?</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1188720"/>
            <a:ext cx="11155680" cy="457200"/>
          </a:xfrm>
          <a:prstGeom prst="roundRect">
            <a:avLst/>
          </a:prstGeom>
          <a:solidFill>
            <a:srgbClr val="17365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nd"/>
          <p:cNvSpPr txBox="1"/>
          <p:nvPr/>
        </p:nvSpPr>
        <p:spPr>
          <a:xfrm>
            <a:off x="777240" y="1261872"/>
            <a:ext cx="10698480" cy="320040"/>
          </a:xfrm>
          <a:prstGeom prst="rect">
            <a:avLst/>
          </a:prstGeom>
          <a:noFill/>
        </p:spPr>
        <p:txBody>
          <a:bodyPr wrap="square" anchor="t" lIns="0" rIns="0" tIns="0" bIns="0">
            <a:spAutoFit/>
          </a:bodyPr>
          <a:lstStyle/>
          <a:p>
            <a:pPr algn="l"/>
            <a:r>
              <a:rPr sz="1600" b="1" i="0">
                <a:solidFill>
                  <a:srgbClr val="FFFFFF"/>
                </a:solidFill>
                <a:latin typeface="Aptos"/>
              </a:rPr>
              <a:t>Reminders for CLOZE (gap-fill) questions</a:t>
            </a:r>
          </a:p>
        </p:txBody>
      </p:sp>
      <p:sp>
        <p:nvSpPr>
          <p:cNvPr id="12" name="Rounded Rectangle 11"/>
          <p:cNvSpPr/>
          <p:nvPr/>
        </p:nvSpPr>
        <p:spPr>
          <a:xfrm>
            <a:off x="502920" y="1783080"/>
            <a:ext cx="5486400" cy="1920240"/>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ip_55_195"/>
          <p:cNvSpPr txBox="1"/>
          <p:nvPr/>
        </p:nvSpPr>
        <p:spPr>
          <a:xfrm>
            <a:off x="758952" y="1929384"/>
            <a:ext cx="5029200" cy="1691640"/>
          </a:xfrm>
          <a:prstGeom prst="rect">
            <a:avLst/>
          </a:prstGeom>
          <a:noFill/>
        </p:spPr>
        <p:txBody>
          <a:bodyPr wrap="square" anchor="t" lIns="0" rIns="0" tIns="0" bIns="0">
            <a:spAutoFit/>
          </a:bodyPr>
          <a:lstStyle/>
          <a:p>
            <a:pPr algn="l"/>
            <a:r>
              <a:rPr sz="1700" b="1" i="0">
                <a:solidFill>
                  <a:srgbClr val="17365D"/>
                </a:solidFill>
                <a:latin typeface="Aptos"/>
              </a:rPr>
              <a:t>1   Read the whole summary carefully</a:t>
            </a:r>
          </a:p>
          <a:p>
            <a:pPr algn="l"/>
            <a:r>
              <a:rPr sz="1300" b="0" i="0">
                <a:solidFill>
                  <a:srgbClr val="17365D"/>
                </a:solidFill>
                <a:latin typeface="Aptos"/>
              </a:rPr>
              <a:t>The summary is a PARAPHRASE — it uses different words. Example: the summary says “asked for more space”; the paragraph says “asked the principal for a bigger room”.</a:t>
            </a:r>
          </a:p>
          <a:p>
            <a:pPr algn="l"/>
            <a:r>
              <a:rPr sz="1300" b="0" i="0">
                <a:solidFill>
                  <a:srgbClr val="17365D"/>
                </a:solidFill>
                <a:latin typeface="Aptos"/>
              </a:rPr>
              <a:t>Find the paragraph first: the question names it (“Based on paragraph 2 …”).</a:t>
            </a:r>
          </a:p>
        </p:txBody>
      </p:sp>
      <p:sp>
        <p:nvSpPr>
          <p:cNvPr id="14" name="Rounded Rectangle 13"/>
          <p:cNvSpPr/>
          <p:nvPr/>
        </p:nvSpPr>
        <p:spPr>
          <a:xfrm>
            <a:off x="6217920" y="1783080"/>
            <a:ext cx="5486400" cy="192024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ip_680_195"/>
          <p:cNvSpPr txBox="1"/>
          <p:nvPr/>
        </p:nvSpPr>
        <p:spPr>
          <a:xfrm>
            <a:off x="6473952" y="1929384"/>
            <a:ext cx="5029200" cy="1691640"/>
          </a:xfrm>
          <a:prstGeom prst="rect">
            <a:avLst/>
          </a:prstGeom>
          <a:noFill/>
        </p:spPr>
        <p:txBody>
          <a:bodyPr wrap="square" anchor="t" lIns="0" rIns="0" tIns="0" bIns="0">
            <a:spAutoFit/>
          </a:bodyPr>
          <a:lstStyle/>
          <a:p>
            <a:pPr algn="l"/>
            <a:r>
              <a:rPr sz="1700" b="1" i="0">
                <a:solidFill>
                  <a:srgbClr val="17365D"/>
                </a:solidFill>
                <a:latin typeface="Aptos"/>
              </a:rPr>
              <a:t>2   Use the words around the blank to find the word class</a:t>
            </a:r>
          </a:p>
          <a:p>
            <a:pPr algn="l"/>
            <a:r>
              <a:rPr sz="1300" b="0" i="0">
                <a:solidFill>
                  <a:srgbClr val="17365D"/>
                </a:solidFill>
                <a:latin typeface="Aptos"/>
              </a:rPr>
              <a:t>a / an + ______  = noun            more ______  = adjective (comparative)</a:t>
            </a:r>
          </a:p>
          <a:p>
            <a:pPr algn="l"/>
            <a:r>
              <a:rPr sz="1300" b="0" i="0">
                <a:solidFill>
                  <a:srgbClr val="17365D"/>
                </a:solidFill>
                <a:latin typeface="Aptos"/>
              </a:rPr>
              <a:t>grew ______  = adverb (-ly)        would ______  = verb (base form)</a:t>
            </a:r>
          </a:p>
          <a:p>
            <a:pPr algn="l"/>
            <a:r>
              <a:rPr sz="1300" b="0" i="0">
                <a:solidFill>
                  <a:srgbClr val="17365D"/>
                </a:solidFill>
                <a:latin typeface="Aptos"/>
              </a:rPr>
              <a:t>by + ______  = noun or -ing form</a:t>
            </a:r>
          </a:p>
        </p:txBody>
      </p:sp>
      <p:sp>
        <p:nvSpPr>
          <p:cNvPr id="16" name="Rounded Rectangle 15"/>
          <p:cNvSpPr/>
          <p:nvPr/>
        </p:nvSpPr>
        <p:spPr>
          <a:xfrm>
            <a:off x="502920" y="3840480"/>
            <a:ext cx="5486400" cy="192024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ip_55_420"/>
          <p:cNvSpPr txBox="1"/>
          <p:nvPr/>
        </p:nvSpPr>
        <p:spPr>
          <a:xfrm>
            <a:off x="758952" y="3986784"/>
            <a:ext cx="5029200" cy="1691640"/>
          </a:xfrm>
          <a:prstGeom prst="rect">
            <a:avLst/>
          </a:prstGeom>
          <a:noFill/>
        </p:spPr>
        <p:txBody>
          <a:bodyPr wrap="square" anchor="t" lIns="0" rIns="0" tIns="0" bIns="0">
            <a:spAutoFit/>
          </a:bodyPr>
          <a:lstStyle/>
          <a:p>
            <a:pPr algn="l"/>
            <a:r>
              <a:rPr sz="1700" b="1" i="0">
                <a:solidFill>
                  <a:srgbClr val="17365D"/>
                </a:solidFill>
                <a:latin typeface="Aptos"/>
              </a:rPr>
              <a:t>3   Hunt for the matching IDEA in the paragraph</a:t>
            </a:r>
          </a:p>
          <a:p>
            <a:pPr algn="l"/>
            <a:r>
              <a:rPr sz="1300" b="0" i="0">
                <a:solidFill>
                  <a:srgbClr val="17365D"/>
                </a:solidFill>
                <a:latin typeface="Aptos"/>
              </a:rPr>
              <a:t>Do not hunt for the summary’s words — hunt for the same meaning.</a:t>
            </a:r>
          </a:p>
          <a:p>
            <a:pPr algn="l"/>
            <a:r>
              <a:rPr sz="1300" b="0" i="0">
                <a:solidFill>
                  <a:srgbClr val="17365D"/>
                </a:solidFill>
                <a:latin typeface="Aptos"/>
              </a:rPr>
              <a:t>Read the whole sentence around the blank: “but”, “so”, “because” tell you how the idea is built.</a:t>
            </a:r>
          </a:p>
        </p:txBody>
      </p:sp>
      <p:sp>
        <p:nvSpPr>
          <p:cNvPr id="18" name="Rounded Rectangle 17"/>
          <p:cNvSpPr/>
          <p:nvPr/>
        </p:nvSpPr>
        <p:spPr>
          <a:xfrm>
            <a:off x="6217920" y="3840480"/>
            <a:ext cx="5486400" cy="1920240"/>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ip_680_420"/>
          <p:cNvSpPr txBox="1"/>
          <p:nvPr/>
        </p:nvSpPr>
        <p:spPr>
          <a:xfrm>
            <a:off x="6473952" y="3986784"/>
            <a:ext cx="5029200" cy="1691640"/>
          </a:xfrm>
          <a:prstGeom prst="rect">
            <a:avLst/>
          </a:prstGeom>
          <a:noFill/>
        </p:spPr>
        <p:txBody>
          <a:bodyPr wrap="square" anchor="t" lIns="0" rIns="0" tIns="0" bIns="0">
            <a:spAutoFit/>
          </a:bodyPr>
          <a:lstStyle/>
          <a:p>
            <a:pPr algn="l"/>
            <a:r>
              <a:rPr sz="1700" b="1" i="0">
                <a:solidFill>
                  <a:srgbClr val="17365D"/>
                </a:solidFill>
                <a:latin typeface="Aptos"/>
              </a:rPr>
              <a:t>4   Copy the EXACT word — then check the form</a:t>
            </a:r>
          </a:p>
          <a:p>
            <a:pPr algn="l"/>
            <a:r>
              <a:rPr sz="1300" b="0" i="0">
                <a:solidFill>
                  <a:srgbClr val="17365D"/>
                </a:solidFill>
                <a:latin typeface="Aptos"/>
              </a:rPr>
              <a:t>ONE word per blank; a fixed pair printed in the text counts as one answer.</a:t>
            </a:r>
          </a:p>
          <a:p>
            <a:pPr algn="l"/>
            <a:r>
              <a:rPr sz="1300" b="0" i="0">
                <a:solidFill>
                  <a:srgbClr val="17365D"/>
                </a:solidFill>
                <a:latin typeface="Aptos"/>
              </a:rPr>
              <a:t>Check the form: -s · -ed · -ing · -er · -ly — and check the spelling.</a:t>
            </a:r>
          </a:p>
        </p:txBody>
      </p:sp>
      <p:sp>
        <p:nvSpPr>
          <p:cNvPr id="20" name="Rounded Rectangle 19"/>
          <p:cNvSpPr/>
          <p:nvPr/>
        </p:nvSpPr>
        <p:spPr>
          <a:xfrm>
            <a:off x="502920" y="5897880"/>
            <a:ext cx="11155680" cy="548640"/>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ip_bottom"/>
          <p:cNvSpPr txBox="1"/>
          <p:nvPr/>
        </p:nvSpPr>
        <p:spPr>
          <a:xfrm>
            <a:off x="777240" y="6016752"/>
            <a:ext cx="10698480" cy="365760"/>
          </a:xfrm>
          <a:prstGeom prst="rect">
            <a:avLst/>
          </a:prstGeom>
          <a:noFill/>
        </p:spPr>
        <p:txBody>
          <a:bodyPr wrap="square" anchor="t" lIns="0" rIns="0" tIns="0" bIns="0">
            <a:spAutoFit/>
          </a:bodyPr>
          <a:lstStyle/>
          <a:p>
            <a:pPr algn="l"/>
            <a:r>
              <a:rPr sz="1500" b="1" i="0">
                <a:solidFill>
                  <a:srgbClr val="2F75B5"/>
                </a:solidFill>
                <a:latin typeface="Aptos"/>
              </a:rPr>
              <a:t>Then read your completed sentence again — does it make sense, and is it grammatical?</a:t>
            </a:r>
          </a:p>
        </p:txBody>
      </p:sp>
    </p:spTree>
  </p:cSld>
  <p:clrMapOvr>
    <a:masterClrMapping/>
  </p:clrMapOvr>
  <p:timing>
    <p:tnLst>
      <p:par>
        <p:cTn id="1" dur="indefinite" restart="never" nodeType="tmRoot">
          <p:childTnLst>
            <p:seq concurrent="1" nextAc="seek">
              <p:cTn id="2" dur="indefinite" nodeType="mainSeq">
                <p:childTnLst>
                  <p:par>
                    <p:cTn id="6" presetID="10" presetClass="entr" presetSubtype="0" fill="hold" nodeType="clickEffect">
                      <p:stCondLst>
                        <p:cond delay="0"/>
                      </p:stCondLst>
                      <p:childTnLst>
                        <p:set>
                          <p:cBhvr>
                            <p:cTn id="3" dur="1" fill="hold">
                              <p:stCondLst>
                                <p:cond delay="0"/>
                              </p:stCondLst>
                            </p:cTn>
                            <p:tgtEl>
                              <p:spTgt spid="13"/>
                            </p:tgtEl>
                            <p:attrNameLst>
                              <p:attrName>style.visibility</p:attrName>
                            </p:attrNameLst>
                          </p:cBhvr>
                          <p:to>
                            <p:strVal val="visible"/>
                          </p:to>
                        </p:set>
                        <p:animEffect transition="in" filter="fade">
                          <p:cBhvr>
                            <p:cTn id="5" dur="500"/>
                            <p:tgtEl>
                              <p:spTgt spid="13"/>
                            </p:tgtEl>
                          </p:cBhvr>
                        </p:animEffect>
                      </p:childTnLst>
                    </p:cTn>
                  </p:par>
                  <p:par>
                    <p:cTn id="10" presetID="10" presetClass="entr" presetSubtype="0" fill="hold" nodeType="clickEffect">
                      <p:stCondLst>
                        <p:cond delay="0"/>
                      </p:stCondLst>
                      <p:childTnLst>
                        <p:set>
                          <p:cBhvr>
                            <p:cTn id="7" dur="1" fill="hold">
                              <p:stCondLst>
                                <p:cond delay="0"/>
                              </p:stCondLst>
                            </p:cTn>
                            <p:tgtEl>
                              <p:spTgt spid="15"/>
                            </p:tgtEl>
                            <p:attrNameLst>
                              <p:attrName>style.visibility</p:attrName>
                            </p:attrNameLst>
                          </p:cBhvr>
                          <p:to>
                            <p:strVal val="visible"/>
                          </p:to>
                        </p:set>
                        <p:animEffect transition="in" filter="fade">
                          <p:cBhvr>
                            <p:cTn id="9" dur="500"/>
                            <p:tgtEl>
                              <p:spTgt spid="15"/>
                            </p:tgtEl>
                          </p:cBhvr>
                        </p:animEffect>
                      </p:childTnLst>
                    </p:cTn>
                  </p:par>
                  <p:par>
                    <p:cTn id="14" presetID="10" presetClass="entr" presetSubtype="0" fill="hold" nodeType="clickEffect">
                      <p:stCondLst>
                        <p:cond delay="0"/>
                      </p:stCondLst>
                      <p:childTnLst>
                        <p:set>
                          <p:cBhvr>
                            <p:cTn id="11" dur="1" fill="hold">
                              <p:stCondLst>
                                <p:cond delay="0"/>
                              </p:stCondLst>
                            </p:cTn>
                            <p:tgtEl>
                              <p:spTgt spid="17"/>
                            </p:tgtEl>
                            <p:attrNameLst>
                              <p:attrName>style.visibility</p:attrName>
                            </p:attrNameLst>
                          </p:cBhvr>
                          <p:to>
                            <p:strVal val="visible"/>
                          </p:to>
                        </p:set>
                        <p:animEffect transition="in" filter="fade">
                          <p:cBhvr>
                            <p:cTn id="13" dur="500"/>
                            <p:tgtEl>
                              <p:spTgt spid="17"/>
                            </p:tgtEl>
                          </p:cBhvr>
                        </p:animEffect>
                      </p:childTnLst>
                    </p:cTn>
                  </p:par>
                  <p:par>
                    <p:cTn id="18" presetID="10" presetClass="entr" presetSubtype="0" fill="hold" nodeType="click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7" dur="500"/>
                            <p:tgtEl>
                              <p:spTgt spid="19"/>
                            </p:tgtEl>
                          </p:cBhvr>
                        </p:animEffect>
                      </p:childTnLst>
                    </p:cTn>
                  </p:par>
                  <p:par>
                    <p:cTn id="22" presetID="10" presetClass="entr" presetSubtype="0" fill="hold" nodeType="clickEffect">
                      <p:stCondLst>
                        <p:cond delay="0"/>
                      </p:stCondLst>
                      <p:childTnLst>
                        <p:set>
                          <p:cBhvr>
                            <p:cTn id="19" dur="1" fill="hold">
                              <p:stCondLst>
                                <p:cond delay="0"/>
                              </p:stCondLst>
                            </p:cTn>
                            <p:tgtEl>
                              <p:spTgt spid="21"/>
                            </p:tgtEl>
                            <p:attrNameLst>
                              <p:attrName>style.visibility</p:attrName>
                            </p:attrNameLst>
                          </p:cBhvr>
                          <p:to>
                            <p:strVal val="visible"/>
                          </p:to>
                        </p:set>
                        <p:animEffect transition="in" filter="fade">
                          <p:cBhvr>
                            <p:cTn id="21" dur="500"/>
                            <p:tgtEl>
                              <p:spTgt spid="21"/>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EXAM TIPS</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Cloze questions — 4 demos on one paragraph</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demo_note"/>
          <p:cNvSpPr txBox="1"/>
          <p:nvPr/>
        </p:nvSpPr>
        <p:spPr>
          <a:xfrm>
            <a:off x="502920" y="1188720"/>
            <a:ext cx="11155680" cy="274320"/>
          </a:xfrm>
          <a:prstGeom prst="rect">
            <a:avLst/>
          </a:prstGeom>
          <a:noFill/>
        </p:spPr>
        <p:txBody>
          <a:bodyPr wrap="square" anchor="t" lIns="0" rIns="0" tIns="0" bIns="0">
            <a:spAutoFit/>
          </a:bodyPr>
          <a:lstStyle/>
          <a:p>
            <a:pPr algn="l"/>
            <a:r>
              <a:rPr sz="1150" b="0" i="0">
                <a:solidFill>
                  <a:srgbClr val="5B7083"/>
                </a:solidFill>
                <a:latin typeface="Aptos"/>
              </a:rPr>
              <a:t>(demo — a made-up paragraph, not from the examination paper)</a:t>
            </a:r>
          </a:p>
        </p:txBody>
      </p:sp>
      <p:sp>
        <p:nvSpPr>
          <p:cNvPr id="11" name="Rounded Rectangle 10"/>
          <p:cNvSpPr/>
          <p:nvPr/>
        </p:nvSpPr>
        <p:spPr>
          <a:xfrm>
            <a:off x="502920" y="1481328"/>
            <a:ext cx="11201400" cy="1554480"/>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demo_head"/>
          <p:cNvSpPr txBox="1"/>
          <p:nvPr/>
        </p:nvSpPr>
        <p:spPr>
          <a:xfrm>
            <a:off x="731520" y="1572768"/>
            <a:ext cx="10744200" cy="256032"/>
          </a:xfrm>
          <a:prstGeom prst="rect">
            <a:avLst/>
          </a:prstGeom>
          <a:noFill/>
        </p:spPr>
        <p:txBody>
          <a:bodyPr wrap="square" anchor="t" lIns="0" rIns="0" tIns="0" bIns="0">
            <a:spAutoFit/>
          </a:bodyPr>
          <a:lstStyle/>
          <a:p>
            <a:pPr algn="l"/>
            <a:r>
              <a:rPr sz="1300" b="1" i="0">
                <a:solidFill>
                  <a:srgbClr val="2F75B5"/>
                </a:solidFill>
                <a:latin typeface="Aptos"/>
              </a:rPr>
              <a:t>DEMO PARAGRAPH  —  read it together first</a:t>
            </a:r>
          </a:p>
        </p:txBody>
      </p:sp>
      <p:sp>
        <p:nvSpPr>
          <p:cNvPr id="13" name="demo_para"/>
          <p:cNvSpPr txBox="1"/>
          <p:nvPr/>
        </p:nvSpPr>
        <p:spPr>
          <a:xfrm>
            <a:off x="731520" y="1865376"/>
            <a:ext cx="10744200" cy="1097280"/>
          </a:xfrm>
          <a:prstGeom prst="rect">
            <a:avLst/>
          </a:prstGeom>
          <a:noFill/>
        </p:spPr>
        <p:txBody>
          <a:bodyPr wrap="square" anchor="t" lIns="0" rIns="0" tIns="0" bIns="0">
            <a:spAutoFit/>
          </a:bodyPr>
          <a:lstStyle/>
          <a:p>
            <a:pPr algn="l"/>
            <a:r>
              <a:rPr sz="1350" b="0" i="0">
                <a:solidFill>
                  <a:srgbClr val="17365D"/>
                </a:solidFill>
                <a:latin typeface="Aptos"/>
              </a:rPr>
              <a:t>Last year, our school library started a lunchtime reading club. At first, only eight students came, and the librarian, Ms Wong, lent them books from her own shelf. Then the club began posting short book reviews on the school’s social media page, and the reviews spread quickly: by the end of the term, more than two hundred students had joined the club. Ms Wong has asked the principal for a bigger room, because the club is now the busiest place in the school. Some teachers worried that the club would distract students from their homework, but the library’s records show that club members borrow twice as many books as other students.</a:t>
            </a:r>
          </a:p>
        </p:txBody>
      </p:sp>
      <p:sp>
        <p:nvSpPr>
          <p:cNvPr id="14" name="Rounded Rectangle 13"/>
          <p:cNvSpPr/>
          <p:nvPr/>
        </p:nvSpPr>
        <p:spPr>
          <a:xfrm>
            <a:off x="502920" y="3154680"/>
            <a:ext cx="5440680" cy="138988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h_55"/>
          <p:cNvSpPr txBox="1"/>
          <p:nvPr/>
        </p:nvSpPr>
        <p:spPr>
          <a:xfrm>
            <a:off x="722376" y="3246120"/>
            <a:ext cx="5001768" cy="237744"/>
          </a:xfrm>
          <a:prstGeom prst="rect">
            <a:avLst/>
          </a:prstGeom>
          <a:noFill/>
        </p:spPr>
        <p:txBody>
          <a:bodyPr wrap="square" anchor="t" lIns="0" rIns="0" tIns="0" bIns="0">
            <a:spAutoFit/>
          </a:bodyPr>
          <a:lstStyle/>
          <a:p>
            <a:pPr algn="l"/>
            <a:r>
              <a:rPr sz="1200" b="1" i="0">
                <a:solidFill>
                  <a:srgbClr val="2F75B5"/>
                </a:solidFill>
                <a:latin typeface="Aptos"/>
              </a:rPr>
              <a:t>EASIER 1  ·  ONE word</a:t>
            </a:r>
          </a:p>
        </p:txBody>
      </p:sp>
      <p:sp>
        <p:nvSpPr>
          <p:cNvPr id="16" name="ds_55"/>
          <p:cNvSpPr txBox="1"/>
          <p:nvPr/>
        </p:nvSpPr>
        <p:spPr>
          <a:xfrm>
            <a:off x="722376" y="3502152"/>
            <a:ext cx="5001768" cy="658368"/>
          </a:xfrm>
          <a:prstGeom prst="rect">
            <a:avLst/>
          </a:prstGeom>
          <a:noFill/>
        </p:spPr>
        <p:txBody>
          <a:bodyPr wrap="square" anchor="t" lIns="0" rIns="0" tIns="0" bIns="0">
            <a:spAutoFit/>
          </a:bodyPr>
          <a:lstStyle/>
          <a:p>
            <a:pPr algn="l"/>
            <a:r>
              <a:rPr sz="1250" b="0" i="0">
                <a:solidFill>
                  <a:srgbClr val="17365D"/>
                </a:solidFill>
                <a:latin typeface="Aptos"/>
              </a:rPr>
              <a:t>The librarian lent the first students books from her (i) ______ shelf.</a:t>
            </a:r>
          </a:p>
        </p:txBody>
      </p:sp>
      <p:sp>
        <p:nvSpPr>
          <p:cNvPr id="17" name="demo_ans_55"/>
          <p:cNvSpPr txBox="1"/>
          <p:nvPr/>
        </p:nvSpPr>
        <p:spPr>
          <a:xfrm>
            <a:off x="722376" y="4197096"/>
            <a:ext cx="5001768" cy="292608"/>
          </a:xfrm>
          <a:prstGeom prst="rect">
            <a:avLst/>
          </a:prstGeom>
          <a:noFill/>
        </p:spPr>
        <p:txBody>
          <a:bodyPr wrap="square" anchor="t" lIns="0" rIns="0" tIns="0" bIns="0">
            <a:spAutoFit/>
          </a:bodyPr>
          <a:lstStyle/>
          <a:p>
            <a:pPr algn="l"/>
            <a:r>
              <a:rPr sz="1400" b="1" i="0">
                <a:solidFill>
                  <a:srgbClr val="FF0000"/>
                </a:solidFill>
                <a:latin typeface="Aptos"/>
              </a:rPr>
              <a:t>(i)  own      </a:t>
            </a:r>
            <a:r>
              <a:rPr sz="1050" b="0" i="0">
                <a:solidFill>
                  <a:srgbClr val="5B7083"/>
                </a:solidFill>
                <a:latin typeface="Aptos"/>
              </a:rPr>
              <a:t>1 mark</a:t>
            </a:r>
          </a:p>
        </p:txBody>
      </p:sp>
      <p:sp>
        <p:nvSpPr>
          <p:cNvPr id="18" name="Rounded Rectangle 17"/>
          <p:cNvSpPr/>
          <p:nvPr/>
        </p:nvSpPr>
        <p:spPr>
          <a:xfrm>
            <a:off x="6263640" y="3154680"/>
            <a:ext cx="5440680" cy="1389888"/>
          </a:xfrm>
          <a:prstGeom prst="roundRect">
            <a:avLst/>
          </a:prstGeom>
          <a:solidFill>
            <a:srgbClr val="EAF3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h_685"/>
          <p:cNvSpPr txBox="1"/>
          <p:nvPr/>
        </p:nvSpPr>
        <p:spPr>
          <a:xfrm>
            <a:off x="6483096" y="3246120"/>
            <a:ext cx="5001768" cy="237744"/>
          </a:xfrm>
          <a:prstGeom prst="rect">
            <a:avLst/>
          </a:prstGeom>
          <a:noFill/>
        </p:spPr>
        <p:txBody>
          <a:bodyPr wrap="square" anchor="t" lIns="0" rIns="0" tIns="0" bIns="0">
            <a:spAutoFit/>
          </a:bodyPr>
          <a:lstStyle/>
          <a:p>
            <a:pPr algn="l"/>
            <a:r>
              <a:rPr sz="1200" b="1" i="0">
                <a:solidFill>
                  <a:srgbClr val="2F75B5"/>
                </a:solidFill>
                <a:latin typeface="Aptos"/>
              </a:rPr>
              <a:t>EASIER 2  ·  ONE word</a:t>
            </a:r>
          </a:p>
        </p:txBody>
      </p:sp>
      <p:sp>
        <p:nvSpPr>
          <p:cNvPr id="20" name="ds_685"/>
          <p:cNvSpPr txBox="1"/>
          <p:nvPr/>
        </p:nvSpPr>
        <p:spPr>
          <a:xfrm>
            <a:off x="6483096" y="3502152"/>
            <a:ext cx="5001768" cy="658368"/>
          </a:xfrm>
          <a:prstGeom prst="rect">
            <a:avLst/>
          </a:prstGeom>
          <a:noFill/>
        </p:spPr>
        <p:txBody>
          <a:bodyPr wrap="square" anchor="t" lIns="0" rIns="0" tIns="0" bIns="0">
            <a:spAutoFit/>
          </a:bodyPr>
          <a:lstStyle/>
          <a:p>
            <a:pPr algn="l"/>
            <a:r>
              <a:rPr sz="1250" b="0" i="0">
                <a:solidFill>
                  <a:srgbClr val="17365D"/>
                </a:solidFill>
                <a:latin typeface="Aptos"/>
              </a:rPr>
              <a:t>By the end of the term, more than two (i) ______ students had joined the club.</a:t>
            </a:r>
          </a:p>
        </p:txBody>
      </p:sp>
      <p:sp>
        <p:nvSpPr>
          <p:cNvPr id="21" name="demo_ans_685"/>
          <p:cNvSpPr txBox="1"/>
          <p:nvPr/>
        </p:nvSpPr>
        <p:spPr>
          <a:xfrm>
            <a:off x="6483096" y="4197096"/>
            <a:ext cx="5001768" cy="292608"/>
          </a:xfrm>
          <a:prstGeom prst="rect">
            <a:avLst/>
          </a:prstGeom>
          <a:noFill/>
        </p:spPr>
        <p:txBody>
          <a:bodyPr wrap="square" anchor="t" lIns="0" rIns="0" tIns="0" bIns="0">
            <a:spAutoFit/>
          </a:bodyPr>
          <a:lstStyle/>
          <a:p>
            <a:pPr algn="l"/>
            <a:r>
              <a:rPr sz="1400" b="1" i="0">
                <a:solidFill>
                  <a:srgbClr val="FF0000"/>
                </a:solidFill>
                <a:latin typeface="Aptos"/>
              </a:rPr>
              <a:t>(i)  hundred      </a:t>
            </a:r>
            <a:r>
              <a:rPr sz="1050" b="0" i="0">
                <a:solidFill>
                  <a:srgbClr val="5B7083"/>
                </a:solidFill>
                <a:latin typeface="Aptos"/>
              </a:rPr>
              <a:t>1 mark</a:t>
            </a:r>
          </a:p>
        </p:txBody>
      </p:sp>
      <p:sp>
        <p:nvSpPr>
          <p:cNvPr id="22" name="Rounded Rectangle 21"/>
          <p:cNvSpPr/>
          <p:nvPr/>
        </p:nvSpPr>
        <p:spPr>
          <a:xfrm>
            <a:off x="502920" y="4663440"/>
            <a:ext cx="5440680" cy="1389888"/>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dh_55"/>
          <p:cNvSpPr txBox="1"/>
          <p:nvPr/>
        </p:nvSpPr>
        <p:spPr>
          <a:xfrm>
            <a:off x="722376" y="4754879"/>
            <a:ext cx="5001768" cy="237744"/>
          </a:xfrm>
          <a:prstGeom prst="rect">
            <a:avLst/>
          </a:prstGeom>
          <a:noFill/>
        </p:spPr>
        <p:txBody>
          <a:bodyPr wrap="square" anchor="t" lIns="0" rIns="0" tIns="0" bIns="0">
            <a:spAutoFit/>
          </a:bodyPr>
          <a:lstStyle/>
          <a:p>
            <a:pPr algn="l"/>
            <a:r>
              <a:rPr sz="1200" b="1" i="0">
                <a:solidFill>
                  <a:srgbClr val="2F75B5"/>
                </a:solidFill>
                <a:latin typeface="Aptos"/>
              </a:rPr>
              <a:t>HARDER 1  ·  ONE word</a:t>
            </a:r>
          </a:p>
        </p:txBody>
      </p:sp>
      <p:sp>
        <p:nvSpPr>
          <p:cNvPr id="24" name="ds_55"/>
          <p:cNvSpPr txBox="1"/>
          <p:nvPr/>
        </p:nvSpPr>
        <p:spPr>
          <a:xfrm>
            <a:off x="722376" y="5010912"/>
            <a:ext cx="5001768" cy="658368"/>
          </a:xfrm>
          <a:prstGeom prst="rect">
            <a:avLst/>
          </a:prstGeom>
          <a:noFill/>
        </p:spPr>
        <p:txBody>
          <a:bodyPr wrap="square" anchor="t" lIns="0" rIns="0" tIns="0" bIns="0">
            <a:spAutoFit/>
          </a:bodyPr>
          <a:lstStyle/>
          <a:p>
            <a:pPr algn="l"/>
            <a:r>
              <a:rPr sz="1250" b="0" i="0">
                <a:solidFill>
                  <a:srgbClr val="17365D"/>
                </a:solidFill>
                <a:latin typeface="Aptos"/>
              </a:rPr>
              <a:t>The club grew (i) ______ after its book reviews appeared online.</a:t>
            </a:r>
          </a:p>
        </p:txBody>
      </p:sp>
      <p:sp>
        <p:nvSpPr>
          <p:cNvPr id="25" name="demo_ans_55"/>
          <p:cNvSpPr txBox="1"/>
          <p:nvPr/>
        </p:nvSpPr>
        <p:spPr>
          <a:xfrm>
            <a:off x="722376" y="5705855"/>
            <a:ext cx="5001768" cy="292608"/>
          </a:xfrm>
          <a:prstGeom prst="rect">
            <a:avLst/>
          </a:prstGeom>
          <a:noFill/>
        </p:spPr>
        <p:txBody>
          <a:bodyPr wrap="square" anchor="t" lIns="0" rIns="0" tIns="0" bIns="0">
            <a:spAutoFit/>
          </a:bodyPr>
          <a:lstStyle/>
          <a:p>
            <a:pPr algn="l"/>
            <a:r>
              <a:rPr sz="1400" b="1" i="0">
                <a:solidFill>
                  <a:srgbClr val="FF0000"/>
                </a:solidFill>
                <a:latin typeface="Aptos"/>
              </a:rPr>
              <a:t>(i)  quickly      </a:t>
            </a:r>
            <a:r>
              <a:rPr sz="1050" b="0" i="0">
                <a:solidFill>
                  <a:srgbClr val="5B7083"/>
                </a:solidFill>
                <a:latin typeface="Aptos"/>
              </a:rPr>
              <a:t>1 mark</a:t>
            </a:r>
          </a:p>
        </p:txBody>
      </p:sp>
      <p:sp>
        <p:nvSpPr>
          <p:cNvPr id="26" name="Rounded Rectangle 25"/>
          <p:cNvSpPr/>
          <p:nvPr/>
        </p:nvSpPr>
        <p:spPr>
          <a:xfrm>
            <a:off x="6263640" y="4663440"/>
            <a:ext cx="5440680" cy="1389888"/>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dh_685"/>
          <p:cNvSpPr txBox="1"/>
          <p:nvPr/>
        </p:nvSpPr>
        <p:spPr>
          <a:xfrm>
            <a:off x="6483096" y="4754879"/>
            <a:ext cx="5001768" cy="237744"/>
          </a:xfrm>
          <a:prstGeom prst="rect">
            <a:avLst/>
          </a:prstGeom>
          <a:noFill/>
        </p:spPr>
        <p:txBody>
          <a:bodyPr wrap="square" anchor="t" lIns="0" rIns="0" tIns="0" bIns="0">
            <a:spAutoFit/>
          </a:bodyPr>
          <a:lstStyle/>
          <a:p>
            <a:pPr algn="l"/>
            <a:r>
              <a:rPr sz="1200" b="1" i="0">
                <a:solidFill>
                  <a:srgbClr val="2F75B5"/>
                </a:solidFill>
                <a:latin typeface="Aptos"/>
              </a:rPr>
              <a:t>HARDER 2  ·  TWO words</a:t>
            </a:r>
          </a:p>
        </p:txBody>
      </p:sp>
      <p:sp>
        <p:nvSpPr>
          <p:cNvPr id="28" name="ds_685"/>
          <p:cNvSpPr txBox="1"/>
          <p:nvPr/>
        </p:nvSpPr>
        <p:spPr>
          <a:xfrm>
            <a:off x="6483096" y="5010912"/>
            <a:ext cx="5001768" cy="658368"/>
          </a:xfrm>
          <a:prstGeom prst="rect">
            <a:avLst/>
          </a:prstGeom>
          <a:noFill/>
        </p:spPr>
        <p:txBody>
          <a:bodyPr wrap="square" anchor="t" lIns="0" rIns="0" tIns="0" bIns="0">
            <a:spAutoFit/>
          </a:bodyPr>
          <a:lstStyle/>
          <a:p>
            <a:pPr algn="l"/>
            <a:r>
              <a:rPr sz="1250" b="0" i="0">
                <a:solidFill>
                  <a:srgbClr val="17365D"/>
                </a:solidFill>
                <a:latin typeface="Aptos"/>
              </a:rPr>
              <a:t>Some teachers worried that the club would (i) ______ students from their homework, but the library’s records show that members (ii) ______ more books than other students.</a:t>
            </a:r>
          </a:p>
        </p:txBody>
      </p:sp>
      <p:sp>
        <p:nvSpPr>
          <p:cNvPr id="29" name="demo_ans_685"/>
          <p:cNvSpPr txBox="1"/>
          <p:nvPr/>
        </p:nvSpPr>
        <p:spPr>
          <a:xfrm>
            <a:off x="6483096" y="5705855"/>
            <a:ext cx="5001768" cy="292608"/>
          </a:xfrm>
          <a:prstGeom prst="rect">
            <a:avLst/>
          </a:prstGeom>
          <a:noFill/>
        </p:spPr>
        <p:txBody>
          <a:bodyPr wrap="square" anchor="t" lIns="0" rIns="0" tIns="0" bIns="0">
            <a:spAutoFit/>
          </a:bodyPr>
          <a:lstStyle/>
          <a:p>
            <a:pPr algn="l"/>
            <a:r>
              <a:rPr sz="1400" b="1" i="0">
                <a:solidFill>
                  <a:srgbClr val="FF0000"/>
                </a:solidFill>
                <a:latin typeface="Aptos"/>
              </a:rPr>
              <a:t>(i)  distract        (ii)  borrow      </a:t>
            </a:r>
            <a:r>
              <a:rPr sz="1050" b="0" i="0">
                <a:solidFill>
                  <a:srgbClr val="5B7083"/>
                </a:solidFill>
                <a:latin typeface="Aptos"/>
              </a:rPr>
              <a:t>2 marks</a:t>
            </a:r>
          </a:p>
        </p:txBody>
      </p:sp>
      <p:sp>
        <p:nvSpPr>
          <p:cNvPr id="30" name="demo_foot"/>
          <p:cNvSpPr txBox="1"/>
          <p:nvPr/>
        </p:nvSpPr>
        <p:spPr>
          <a:xfrm>
            <a:off x="502920" y="6172200"/>
            <a:ext cx="11155680" cy="329184"/>
          </a:xfrm>
          <a:prstGeom prst="rect">
            <a:avLst/>
          </a:prstGeom>
          <a:noFill/>
        </p:spPr>
        <p:txBody>
          <a:bodyPr wrap="square" anchor="t" lIns="0" rIns="0" tIns="0" bIns="0">
            <a:spAutoFit/>
          </a:bodyPr>
          <a:lstStyle/>
          <a:p>
            <a:pPr algn="l"/>
            <a:r>
              <a:rPr sz="1400" b="1" i="0">
                <a:solidFill>
                  <a:srgbClr val="2F75B5"/>
                </a:solidFill>
                <a:latin typeface="Aptos"/>
              </a:rPr>
              <a:t>1  word class  →  2  read around the blank  →  3  copy the exact word  →  4  check the form</a:t>
            </a:r>
          </a:p>
        </p:txBody>
      </p:sp>
    </p:spTree>
  </p:cSld>
  <p:clrMapOvr>
    <a:masterClrMapping/>
  </p:clrMapOvr>
  <p:timing>
    <p:tnLst>
      <p:par>
        <p:cTn id="1" dur="indefinite" restart="never" nodeType="tmRoot">
          <p:childTnLst>
            <p:seq concurrent="1" nextAc="seek">
              <p:cTn id="2" dur="indefinite" nodeType="mainSeq">
                <p:childTnLst>
                  <p:par>
                    <p:cTn id="6" presetID="10" presetClass="entr" presetSubtype="0" fill="hold" nodeType="clickEffect">
                      <p:stCondLst>
                        <p:cond delay="0"/>
                      </p:stCondLst>
                      <p:childTnLst>
                        <p:set>
                          <p:cBhvr>
                            <p:cTn id="3" dur="1" fill="hold">
                              <p:stCondLst>
                                <p:cond delay="0"/>
                              </p:stCondLst>
                            </p:cTn>
                            <p:tgtEl>
                              <p:spTgt spid="17"/>
                            </p:tgtEl>
                            <p:attrNameLst>
                              <p:attrName>style.visibility</p:attrName>
                            </p:attrNameLst>
                          </p:cBhvr>
                          <p:to>
                            <p:strVal val="visible"/>
                          </p:to>
                        </p:set>
                        <p:animEffect transition="in" filter="fade">
                          <p:cBhvr>
                            <p:cTn id="5" dur="500"/>
                            <p:tgtEl>
                              <p:spTgt spid="17"/>
                            </p:tgtEl>
                          </p:cBhvr>
                        </p:animEffect>
                      </p:childTnLst>
                    </p:cTn>
                  </p:par>
                  <p:par>
                    <p:cTn id="10" presetID="10" presetClass="entr" presetSubtype="0" fill="hold" nodeType="clickEffect">
                      <p:stCondLst>
                        <p:cond delay="0"/>
                      </p:stCondLst>
                      <p:childTnLst>
                        <p:set>
                          <p:cBhvr>
                            <p:cTn id="7" dur="1" fill="hold">
                              <p:stCondLst>
                                <p:cond delay="0"/>
                              </p:stCondLst>
                            </p:cTn>
                            <p:tgtEl>
                              <p:spTgt spid="21"/>
                            </p:tgtEl>
                            <p:attrNameLst>
                              <p:attrName>style.visibility</p:attrName>
                            </p:attrNameLst>
                          </p:cBhvr>
                          <p:to>
                            <p:strVal val="visible"/>
                          </p:to>
                        </p:set>
                        <p:animEffect transition="in" filter="fade">
                          <p:cBhvr>
                            <p:cTn id="9" dur="500"/>
                            <p:tgtEl>
                              <p:spTgt spid="21"/>
                            </p:tgtEl>
                          </p:cBhvr>
                        </p:animEffect>
                      </p:childTnLst>
                    </p:cTn>
                  </p:par>
                  <p:par>
                    <p:cTn id="14"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3" dur="500"/>
                            <p:tgtEl>
                              <p:spTgt spid="25"/>
                            </p:tgtEl>
                          </p:cBhvr>
                        </p:animEffect>
                      </p:childTnLst>
                    </p:cTn>
                  </p:par>
                  <p:par>
                    <p:cTn id="18" presetID="10" presetClass="entr" presetSubtype="0" fill="hold" nodeType="clickEffect">
                      <p:stCondLst>
                        <p:cond delay="0"/>
                      </p:stCondLst>
                      <p:childTnLst>
                        <p:set>
                          <p:cBhvr>
                            <p:cTn id="15" dur="1" fill="hold">
                              <p:stCondLst>
                                <p:cond delay="0"/>
                              </p:stCondLst>
                            </p:cTn>
                            <p:tgtEl>
                              <p:spTgt spid="29"/>
                            </p:tgtEl>
                            <p:attrNameLst>
                              <p:attrName>style.visibility</p:attrName>
                            </p:attrNameLst>
                          </p:cBhvr>
                          <p:to>
                            <p:strVal val="visible"/>
                          </p:to>
                        </p:set>
                        <p:animEffect transition="in" filter="fade">
                          <p:cBhvr>
                            <p:cTn id="17" dur="500"/>
                            <p:tgtEl>
                              <p:spTgt spid="29"/>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1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write your answer</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(88%)</a:t>
            </a:r>
          </a:p>
        </p:txBody>
      </p:sp>
      <p:sp>
        <p:nvSpPr>
          <p:cNvPr id="11" name="stem"/>
          <p:cNvSpPr txBox="1"/>
          <p:nvPr/>
        </p:nvSpPr>
        <p:spPr>
          <a:xfrm>
            <a:off x="502920" y="1261872"/>
            <a:ext cx="6675120" cy="658368"/>
          </a:xfrm>
          <a:prstGeom prst="rect">
            <a:avLst/>
          </a:prstGeom>
          <a:noFill/>
        </p:spPr>
        <p:txBody>
          <a:bodyPr wrap="square" anchor="t" lIns="0" rIns="0" tIns="0" bIns="0">
            <a:spAutoFit/>
          </a:bodyPr>
          <a:lstStyle/>
          <a:p>
            <a:pPr algn="l"/>
            <a:r>
              <a:rPr sz="2000" b="1" i="0">
                <a:solidFill>
                  <a:srgbClr val="17365D"/>
                </a:solidFill>
                <a:latin typeface="Aptos"/>
              </a:rPr>
              <a:t>1.  What does </a:t>
            </a:r>
            <a:r>
              <a:rPr sz="2000" b="1" i="0">
                <a:solidFill>
                  <a:srgbClr val="FF0000"/>
                </a:solidFill>
                <a:latin typeface="Aptos"/>
              </a:rPr>
              <a:t>“it”</a:t>
            </a:r>
            <a:r>
              <a:rPr sz="2000" b="1" i="0">
                <a:solidFill>
                  <a:srgbClr val="17365D"/>
                </a:solidFill>
                <a:latin typeface="Aptos"/>
              </a:rPr>
              <a:t> (line 6) refer to?</a:t>
            </a:r>
          </a:p>
        </p:txBody>
      </p:sp>
      <p:pic>
        <p:nvPicPr>
          <p:cNvPr id="12" name="q47_pic" descr="q47.png"/>
          <p:cNvPicPr>
            <a:picLocks noChangeAspect="1"/>
          </p:cNvPicPr>
          <p:nvPr/>
        </p:nvPicPr>
        <p:blipFill>
          <a:blip r:embed="rId2"/>
          <a:stretch>
            <a:fillRect/>
          </a:stretch>
        </p:blipFill>
        <p:spPr>
          <a:xfrm>
            <a:off x="502920" y="2514600"/>
            <a:ext cx="6400800" cy="2796327"/>
          </a:xfrm>
          <a:prstGeom prst="rect">
            <a:avLst/>
          </a:prstGeom>
        </p:spPr>
      </p:pic>
      <p:sp>
        <p:nvSpPr>
          <p:cNvPr id="13" name="oval_q47_0"/>
          <p:cNvSpPr/>
          <p:nvPr/>
        </p:nvSpPr>
        <p:spPr>
          <a:xfrm>
            <a:off x="2176729" y="4295301"/>
            <a:ext cx="1058052" cy="350379"/>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ns1"/>
          <p:cNvSpPr txBox="1"/>
          <p:nvPr/>
        </p:nvSpPr>
        <p:spPr>
          <a:xfrm>
            <a:off x="502920" y="1755648"/>
            <a:ext cx="6583680" cy="502920"/>
          </a:xfrm>
          <a:prstGeom prst="rect">
            <a:avLst/>
          </a:prstGeom>
          <a:noFill/>
        </p:spPr>
        <p:txBody>
          <a:bodyPr wrap="square" anchor="t" lIns="0" rIns="0" tIns="0" bIns="0">
            <a:spAutoFit/>
          </a:bodyPr>
          <a:lstStyle/>
          <a:p>
            <a:pPr algn="l"/>
            <a:r>
              <a:rPr sz="2800" b="1" i="0">
                <a:solidFill>
                  <a:srgbClr val="FF0000"/>
                </a:solidFill>
                <a:latin typeface="Aptos"/>
              </a:rPr>
              <a:t>dystopia</a:t>
            </a:r>
          </a:p>
        </p:txBody>
      </p:sp>
      <p:sp>
        <p:nvSpPr>
          <p:cNvPr id="15" name="Rounded Rectangle 14"/>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Read backwards — find the noun before “it”</a:t>
            </a:r>
          </a:p>
          <a:p>
            <a:pPr algn="l"/>
            <a:r>
              <a:rPr sz="2200" b="1" i="0">
                <a:solidFill>
                  <a:srgbClr val="FF0000"/>
                </a:solidFill>
                <a:latin typeface="Aptos"/>
              </a:rPr>
              <a:t>(1 mark · 88%)</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blinds(horizontal)">
                          <p:cBhvr>
                            <p:cTn id="5" dur="500"/>
                            <p:tgtEl>
                              <p:spTgt spid="16"/>
                            </p:tgtEl>
                          </p:cBhvr>
                        </p:animEffect>
                      </p:childTnLst>
                    </p:cTn>
                  </p:par>
                  <p:par>
                    <p:cTn id="10" presetID="10" presetClass="entr" presetSubtype="0" fill="hold" nodeType="clickEffect">
                      <p:stCondLst>
                        <p:cond delay="0"/>
                      </p:stCondLst>
                      <p:childTnLst>
                        <p:set>
                          <p:cBhvr>
                            <p:cTn id="7" dur="1" fill="hold">
                              <p:stCondLst>
                                <p:cond delay="0"/>
                              </p:stCondLst>
                            </p:cTn>
                            <p:tgtEl>
                              <p:spTgt spid="14"/>
                            </p:tgtEl>
                            <p:attrNameLst>
                              <p:attrName>style.visibility</p:attrName>
                            </p:attrNameLst>
                          </p:cBhvr>
                          <p:to>
                            <p:strVal val="visible"/>
                          </p:to>
                        </p:set>
                        <p:animEffect transition="in" filter="fade">
                          <p:cBhvr>
                            <p:cTn id="9" dur="500"/>
                            <p:tgtEl>
                              <p:spTgt spid="14"/>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2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complete the summary</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(91 / 78 / 74 / 59 / 45%)</a:t>
            </a:r>
          </a:p>
        </p:txBody>
      </p:sp>
      <p:sp>
        <p:nvSpPr>
          <p:cNvPr id="11" name="stem"/>
          <p:cNvSpPr txBox="1"/>
          <p:nvPr/>
        </p:nvSpPr>
        <p:spPr>
          <a:xfrm>
            <a:off x="502920" y="1261872"/>
            <a:ext cx="6675120" cy="1481328"/>
          </a:xfrm>
          <a:prstGeom prst="rect">
            <a:avLst/>
          </a:prstGeom>
          <a:noFill/>
        </p:spPr>
        <p:txBody>
          <a:bodyPr wrap="square" anchor="t" lIns="0" rIns="0" tIns="0" bIns="0">
            <a:spAutoFit/>
          </a:bodyPr>
          <a:lstStyle/>
          <a:p>
            <a:pPr algn="l"/>
            <a:r>
              <a:rPr sz="1400" b="1" i="0">
                <a:solidFill>
                  <a:srgbClr val="17365D"/>
                </a:solidFill>
                <a:latin typeface="Aptos"/>
              </a:rPr>
              <a:t>2.  Based on paragraph 2, complete the text with ONE word in each blank.  (5 marks)</a:t>
            </a:r>
          </a:p>
          <a:p>
            <a:pPr algn="l"/>
            <a:r>
              <a:rPr sz="1200" b="0" i="0">
                <a:solidFill>
                  <a:srgbClr val="5B7083"/>
                </a:solidFill>
                <a:latin typeface="Aptos"/>
              </a:rPr>
              <a:t>Check the grammar — word form, plurals etc.</a:t>
            </a:r>
          </a:p>
          <a:p>
            <a:pPr algn="l"/>
            <a:r>
              <a:rPr sz="1300" b="0" i="0">
                <a:solidFill>
                  <a:srgbClr val="17365D"/>
                </a:solidFill>
                <a:latin typeface="Aptos"/>
              </a:rPr>
              <a:t>The novel When You Reach Me takes place in New York City (NYC) where (i) ______ grew up. In the 1970s, NYC had a higher (ii) ______ , but children back then had more (iii) ______ . In contrast, NYC today is (iv) ______ yet children are more (v) ______ by their parents. As a result, children don’t walk the streets alone.</a:t>
            </a:r>
          </a:p>
        </p:txBody>
      </p:sp>
      <p:pic>
        <p:nvPicPr>
          <p:cNvPr id="12" name="q48a_pic" descr="q48a.png"/>
          <p:cNvPicPr>
            <a:picLocks noChangeAspect="1"/>
          </p:cNvPicPr>
          <p:nvPr/>
        </p:nvPicPr>
        <p:blipFill>
          <a:blip r:embed="rId2"/>
          <a:stretch>
            <a:fillRect/>
          </a:stretch>
        </p:blipFill>
        <p:spPr>
          <a:xfrm>
            <a:off x="502920" y="4526280"/>
            <a:ext cx="2971800" cy="1301202"/>
          </a:xfrm>
          <a:prstGeom prst="rect">
            <a:avLst/>
          </a:prstGeom>
        </p:spPr>
      </p:pic>
      <p:pic>
        <p:nvPicPr>
          <p:cNvPr id="13" name="q48b_pic" descr="q48b.png"/>
          <p:cNvPicPr>
            <a:picLocks noChangeAspect="1"/>
          </p:cNvPicPr>
          <p:nvPr/>
        </p:nvPicPr>
        <p:blipFill>
          <a:blip r:embed="rId3"/>
          <a:stretch>
            <a:fillRect/>
          </a:stretch>
        </p:blipFill>
        <p:spPr>
          <a:xfrm>
            <a:off x="3913632" y="4526280"/>
            <a:ext cx="2971800" cy="1137355"/>
          </a:xfrm>
          <a:prstGeom prst="rect">
            <a:avLst/>
          </a:prstGeom>
        </p:spPr>
      </p:pic>
      <p:sp>
        <p:nvSpPr>
          <p:cNvPr id="14" name="oval_q48a_0"/>
          <p:cNvSpPr/>
          <p:nvPr/>
        </p:nvSpPr>
        <p:spPr>
          <a:xfrm>
            <a:off x="1301739" y="4546186"/>
            <a:ext cx="921555" cy="133097"/>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_q48a_1"/>
          <p:cNvSpPr/>
          <p:nvPr/>
        </p:nvSpPr>
        <p:spPr>
          <a:xfrm>
            <a:off x="1564446" y="5524578"/>
            <a:ext cx="649041" cy="149751"/>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_q48b_0"/>
          <p:cNvSpPr/>
          <p:nvPr/>
        </p:nvSpPr>
        <p:spPr>
          <a:xfrm>
            <a:off x="5381106" y="4706429"/>
            <a:ext cx="487078" cy="133406"/>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_q48b_1"/>
          <p:cNvSpPr/>
          <p:nvPr/>
        </p:nvSpPr>
        <p:spPr>
          <a:xfrm>
            <a:off x="6538622" y="4873158"/>
            <a:ext cx="330166" cy="126696"/>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_q48b_2"/>
          <p:cNvSpPr/>
          <p:nvPr/>
        </p:nvSpPr>
        <p:spPr>
          <a:xfrm>
            <a:off x="4217052" y="5056606"/>
            <a:ext cx="227045" cy="109977"/>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_q48b_3"/>
          <p:cNvSpPr/>
          <p:nvPr/>
        </p:nvSpPr>
        <p:spPr>
          <a:xfrm>
            <a:off x="4594174" y="5196609"/>
            <a:ext cx="756917" cy="130108"/>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_q48b_4"/>
          <p:cNvSpPr/>
          <p:nvPr/>
        </p:nvSpPr>
        <p:spPr>
          <a:xfrm>
            <a:off x="4223887" y="5356742"/>
            <a:ext cx="313524" cy="150124"/>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_q48b_5"/>
          <p:cNvSpPr/>
          <p:nvPr/>
        </p:nvSpPr>
        <p:spPr>
          <a:xfrm>
            <a:off x="6278293" y="5356742"/>
            <a:ext cx="590496" cy="146712"/>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ans1"/>
          <p:cNvSpPr txBox="1"/>
          <p:nvPr/>
        </p:nvSpPr>
        <p:spPr>
          <a:xfrm>
            <a:off x="502920" y="2788920"/>
            <a:ext cx="6583680" cy="502920"/>
          </a:xfrm>
          <a:prstGeom prst="rect">
            <a:avLst/>
          </a:prstGeom>
          <a:noFill/>
        </p:spPr>
        <p:txBody>
          <a:bodyPr wrap="square" anchor="t" lIns="0" rIns="0" tIns="0" bIns="0">
            <a:spAutoFit/>
          </a:bodyPr>
          <a:lstStyle/>
          <a:p>
            <a:pPr algn="l"/>
            <a:r>
              <a:rPr sz="1800" b="1" i="0">
                <a:solidFill>
                  <a:srgbClr val="FF0000"/>
                </a:solidFill>
                <a:latin typeface="Aptos"/>
              </a:rPr>
              <a:t>(i)  Rebecca Stead</a:t>
            </a:r>
          </a:p>
        </p:txBody>
      </p:sp>
      <p:sp>
        <p:nvSpPr>
          <p:cNvPr id="23" name="ans2"/>
          <p:cNvSpPr txBox="1"/>
          <p:nvPr/>
        </p:nvSpPr>
        <p:spPr>
          <a:xfrm>
            <a:off x="502920" y="3118104"/>
            <a:ext cx="6583680" cy="502920"/>
          </a:xfrm>
          <a:prstGeom prst="rect">
            <a:avLst/>
          </a:prstGeom>
          <a:noFill/>
        </p:spPr>
        <p:txBody>
          <a:bodyPr wrap="square" anchor="t" lIns="0" rIns="0" tIns="0" bIns="0">
            <a:spAutoFit/>
          </a:bodyPr>
          <a:lstStyle/>
          <a:p>
            <a:pPr algn="l"/>
            <a:r>
              <a:rPr sz="1800" b="1" i="0">
                <a:solidFill>
                  <a:srgbClr val="FF0000"/>
                </a:solidFill>
                <a:latin typeface="Aptos"/>
              </a:rPr>
              <a:t>(ii)  crime rate</a:t>
            </a:r>
          </a:p>
        </p:txBody>
      </p:sp>
      <p:sp>
        <p:nvSpPr>
          <p:cNvPr id="24" name="ans3"/>
          <p:cNvSpPr txBox="1"/>
          <p:nvPr/>
        </p:nvSpPr>
        <p:spPr>
          <a:xfrm>
            <a:off x="502920" y="3447288"/>
            <a:ext cx="6583680" cy="502920"/>
          </a:xfrm>
          <a:prstGeom prst="rect">
            <a:avLst/>
          </a:prstGeom>
          <a:noFill/>
        </p:spPr>
        <p:txBody>
          <a:bodyPr wrap="square" anchor="t" lIns="0" rIns="0" tIns="0" bIns="0">
            <a:spAutoFit/>
          </a:bodyPr>
          <a:lstStyle/>
          <a:p>
            <a:pPr algn="l"/>
            <a:r>
              <a:rPr sz="1800" b="1" i="0">
                <a:solidFill>
                  <a:srgbClr val="FF0000"/>
                </a:solidFill>
                <a:latin typeface="Aptos"/>
              </a:rPr>
              <a:t>(iii)  freedom  //  autonomy  //  adventure</a:t>
            </a:r>
          </a:p>
        </p:txBody>
      </p:sp>
      <p:sp>
        <p:nvSpPr>
          <p:cNvPr id="25" name="ans4"/>
          <p:cNvSpPr txBox="1"/>
          <p:nvPr/>
        </p:nvSpPr>
        <p:spPr>
          <a:xfrm>
            <a:off x="502920" y="3776472"/>
            <a:ext cx="6583680" cy="502920"/>
          </a:xfrm>
          <a:prstGeom prst="rect">
            <a:avLst/>
          </a:prstGeom>
          <a:noFill/>
        </p:spPr>
        <p:txBody>
          <a:bodyPr wrap="square" anchor="t" lIns="0" rIns="0" tIns="0" bIns="0">
            <a:spAutoFit/>
          </a:bodyPr>
          <a:lstStyle/>
          <a:p>
            <a:pPr algn="l"/>
            <a:r>
              <a:rPr sz="1800" b="1" i="0">
                <a:solidFill>
                  <a:srgbClr val="FF0000"/>
                </a:solidFill>
                <a:latin typeface="Aptos"/>
              </a:rPr>
              <a:t>(iv)  safer</a:t>
            </a:r>
          </a:p>
        </p:txBody>
      </p:sp>
      <p:sp>
        <p:nvSpPr>
          <p:cNvPr id="26" name="ans5"/>
          <p:cNvSpPr txBox="1"/>
          <p:nvPr/>
        </p:nvSpPr>
        <p:spPr>
          <a:xfrm>
            <a:off x="502920" y="4105656"/>
            <a:ext cx="6583680" cy="502920"/>
          </a:xfrm>
          <a:prstGeom prst="rect">
            <a:avLst/>
          </a:prstGeom>
          <a:noFill/>
        </p:spPr>
        <p:txBody>
          <a:bodyPr wrap="square" anchor="t" lIns="0" rIns="0" tIns="0" bIns="0">
            <a:spAutoFit/>
          </a:bodyPr>
          <a:lstStyle/>
          <a:p>
            <a:pPr algn="l"/>
            <a:r>
              <a:rPr sz="1800" b="1" i="0">
                <a:solidFill>
                  <a:srgbClr val="FF0000"/>
                </a:solidFill>
                <a:latin typeface="Aptos"/>
              </a:rPr>
              <a:t>(v)  protected  //  controlled</a:t>
            </a:r>
          </a:p>
        </p:txBody>
      </p:sp>
      <p:sp>
        <p:nvSpPr>
          <p:cNvPr id="27" name="Rounded Rectangle 26"/>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Watch the FORM, not just the word: comparative -er · past participle -ed</a:t>
            </a:r>
          </a:p>
          <a:p>
            <a:pPr algn="l"/>
            <a:r>
              <a:rPr sz="2200" b="1" i="0">
                <a:solidFill>
                  <a:srgbClr val="FF0000"/>
                </a:solidFill>
                <a:latin typeface="Aptos"/>
              </a:rPr>
              <a:t>(5 marks · 91 / 78 / 74 / 59 / 45%)</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28"/>
                            </p:tgtEl>
                            <p:attrNameLst>
                              <p:attrName>style.visibility</p:attrName>
                            </p:attrNameLst>
                          </p:cBhvr>
                          <p:to>
                            <p:strVal val="visible"/>
                          </p:to>
                        </p:set>
                        <p:animEffect transition="in" filter="blinds(horizontal)">
                          <p:cBhvr>
                            <p:cTn id="5" dur="500"/>
                            <p:tgtEl>
                              <p:spTgt spid="28"/>
                            </p:tgtEl>
                          </p:cBhvr>
                        </p:animEffect>
                      </p:childTnLst>
                    </p:cTn>
                  </p:par>
                  <p:par>
                    <p:cTn id="13" presetID="10" presetClass="entr" presetSubtype="0" fill="hold" nodeType="clickEffect">
                      <p:stCondLst>
                        <p:cond delay="0"/>
                      </p:stCondLst>
                      <p:childTnLst>
                        <p:set>
                          <p:cBhvr>
                            <p:cTn id="7" dur="1" fill="hold">
                              <p:stCondLst>
                                <p:cond delay="0"/>
                              </p:stCondLst>
                            </p:cTn>
                            <p:tgtEl>
                              <p:spTgt spid="22"/>
                            </p:tgtEl>
                            <p:attrNameLst>
                              <p:attrName>style.visibility</p:attrName>
                            </p:attrNameLst>
                          </p:cBhvr>
                          <p:to>
                            <p:strVal val="visible"/>
                          </p:to>
                        </p:set>
                        <p:animEffect transition="in" filter="fade">
                          <p:cBhvr>
                            <p:cTn id="9" dur="500"/>
                            <p:tgtEl>
                              <p:spTgt spid="22"/>
                            </p:tgtEl>
                          </p:cBhvr>
                        </p:animEffect>
                        <p:set>
                          <p:cBhvr>
                            <p:cTn id="10"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childTnLst>
                    </p:cTn>
                  </p:par>
                  <p:par>
                    <p:cTn id="23" presetID="10" presetClass="entr" presetSubtype="0" fill="hold" nodeType="clickEffect">
                      <p:stCondLst>
                        <p:cond delay="0"/>
                      </p:stCondLst>
                      <p:childTnLst>
                        <p:set>
                          <p:cBhvr>
                            <p:cTn id="14" dur="1" fill="hold">
                              <p:stCondLst>
                                <p:cond delay="0"/>
                              </p:stCondLst>
                            </p:cTn>
                            <p:tgtEl>
                              <p:spTgt spid="23"/>
                            </p:tgtEl>
                            <p:attrNameLst>
                              <p:attrName>style.visibility</p:attrName>
                            </p:attrNameLst>
                          </p:cBhvr>
                          <p:to>
                            <p:strVal val="visible"/>
                          </p:to>
                        </p:set>
                        <p:animEffect transition="in" filter="fade">
                          <p:cBhvr>
                            <p:cTn id="16" dur="500"/>
                            <p:tgtEl>
                              <p:spTgt spid="23"/>
                            </p:tgtEl>
                          </p:cBhvr>
                        </p:animEffect>
                        <p:set>
                          <p:cBhvr>
                            <p:cTn id="17" dur="1" fill="hold">
                              <p:stCondLst>
                                <p:cond delay="0"/>
                              </p:stCondLst>
                            </p:cTn>
                            <p:tgtEl>
                              <p:spTgt spid="17"/>
                            </p:tgtEl>
                            <p:attrNameLst>
                              <p:attrName>style.visibility</p:attrName>
                            </p:attrNameLst>
                          </p:cBhvr>
                          <p:to>
                            <p:strVal val="visible"/>
                          </p:to>
                        </p:set>
                        <p:animEffect transition="in" filter="fade">
                          <p:cBhvr>
                            <p:cTn id="19" dur="500"/>
                            <p:tgtEl>
                              <p:spTgt spid="17"/>
                            </p:tgtEl>
                          </p:cBhvr>
                        </p:animEffect>
                        <p:set>
                          <p:cBhvr>
                            <p:cTn id="20" dur="1" fill="hold">
                              <p:stCondLst>
                                <p:cond delay="0"/>
                              </p:stCondLst>
                            </p:cTn>
                            <p:tgtEl>
                              <p:spTgt spid="18"/>
                            </p:tgtEl>
                            <p:attrNameLst>
                              <p:attrName>style.visibility</p:attrName>
                            </p:attrNameLst>
                          </p:cBhvr>
                          <p:to>
                            <p:strVal val="visible"/>
                          </p:to>
                        </p:set>
                        <p:animEffect transition="in" filter="fade">
                          <p:cBhvr>
                            <p:cTn id="22" dur="500"/>
                            <p:tgtEl>
                              <p:spTgt spid="18"/>
                            </p:tgtEl>
                          </p:cBhvr>
                        </p:animEffect>
                      </p:childTnLst>
                    </p:cTn>
                  </p:par>
                  <p:par>
                    <p:cTn id="36" presetID="10" presetClass="entr" presetSubtype="0" fill="hold" nodeType="clickEffect">
                      <p:stCondLst>
                        <p:cond delay="0"/>
                      </p:stCondLst>
                      <p:childTnLst>
                        <p:set>
                          <p:cBhvr>
                            <p:cTn id="24" dur="1" fill="hold">
                              <p:stCondLst>
                                <p:cond delay="0"/>
                              </p:stCondLst>
                            </p:cTn>
                            <p:tgtEl>
                              <p:spTgt spid="24"/>
                            </p:tgtEl>
                            <p:attrNameLst>
                              <p:attrName>style.visibility</p:attrName>
                            </p:attrNameLst>
                          </p:cBhvr>
                          <p:to>
                            <p:strVal val="visible"/>
                          </p:to>
                        </p:set>
                        <p:animEffect transition="in" filter="fade">
                          <p:cBhvr>
                            <p:cTn id="26" dur="500"/>
                            <p:tgtEl>
                              <p:spTgt spid="24"/>
                            </p:tgtEl>
                          </p:cBhvr>
                        </p:animEffect>
                        <p:set>
                          <p:cBhvr>
                            <p:cTn id="27" dur="1" fill="hold">
                              <p:stCondLst>
                                <p:cond delay="0"/>
                              </p:stCondLst>
                            </p:cTn>
                            <p:tgtEl>
                              <p:spTgt spid="15"/>
                            </p:tgtEl>
                            <p:attrNameLst>
                              <p:attrName>style.visibility</p:attrName>
                            </p:attrNameLst>
                          </p:cBhvr>
                          <p:to>
                            <p:strVal val="visible"/>
                          </p:to>
                        </p:set>
                        <p:animEffect transition="in" filter="fade">
                          <p:cBhvr>
                            <p:cTn id="29" dur="500"/>
                            <p:tgtEl>
                              <p:spTgt spid="15"/>
                            </p:tgtEl>
                          </p:cBhvr>
                        </p:animEffect>
                        <p:set>
                          <p:cBhvr>
                            <p:cTn id="30" dur="1" fill="hold">
                              <p:stCondLst>
                                <p:cond delay="0"/>
                              </p:stCondLst>
                            </p:cTn>
                            <p:tgtEl>
                              <p:spTgt spid="16"/>
                            </p:tgtEl>
                            <p:attrNameLst>
                              <p:attrName>style.visibility</p:attrName>
                            </p:attrNameLst>
                          </p:cBhvr>
                          <p:to>
                            <p:strVal val="visible"/>
                          </p:to>
                        </p:set>
                        <p:animEffect transition="in" filter="fade">
                          <p:cBhvr>
                            <p:cTn id="32" dur="500"/>
                            <p:tgtEl>
                              <p:spTgt spid="16"/>
                            </p:tgtEl>
                          </p:cBhvr>
                        </p:animEffect>
                        <p:set>
                          <p:cBhvr>
                            <p:cTn id="33" dur="1" fill="hold">
                              <p:stCondLst>
                                <p:cond delay="0"/>
                              </p:stCondLst>
                            </p:cTn>
                            <p:tgtEl>
                              <p:spTgt spid="21"/>
                            </p:tgtEl>
                            <p:attrNameLst>
                              <p:attrName>style.visibility</p:attrName>
                            </p:attrNameLst>
                          </p:cBhvr>
                          <p:to>
                            <p:strVal val="visible"/>
                          </p:to>
                        </p:set>
                        <p:animEffect transition="in" filter="fade">
                          <p:cBhvr>
                            <p:cTn id="35" dur="500"/>
                            <p:tgtEl>
                              <p:spTgt spid="21"/>
                            </p:tgtEl>
                          </p:cBhvr>
                        </p:animEffect>
                      </p:childTnLst>
                    </p:cTn>
                  </p:par>
                  <p:par>
                    <p:cTn id="43" presetID="10" presetClass="entr" presetSubtype="0" fill="hold" nodeType="clickEffect">
                      <p:stCondLst>
                        <p:cond delay="0"/>
                      </p:stCondLst>
                      <p:childTnLst>
                        <p:set>
                          <p:cBhvr>
                            <p:cTn id="37" dur="1" fill="hold">
                              <p:stCondLst>
                                <p:cond delay="0"/>
                              </p:stCondLst>
                            </p:cTn>
                            <p:tgtEl>
                              <p:spTgt spid="25"/>
                            </p:tgtEl>
                            <p:attrNameLst>
                              <p:attrName>style.visibility</p:attrName>
                            </p:attrNameLst>
                          </p:cBhvr>
                          <p:to>
                            <p:strVal val="visible"/>
                          </p:to>
                        </p:set>
                        <p:animEffect transition="in" filter="fade">
                          <p:cBhvr>
                            <p:cTn id="39" dur="500"/>
                            <p:tgtEl>
                              <p:spTgt spid="25"/>
                            </p:tgtEl>
                          </p:cBhvr>
                        </p:animEffect>
                        <p:set>
                          <p:cBhvr>
                            <p:cTn id="40" dur="1" fill="hold">
                              <p:stCondLst>
                                <p:cond delay="0"/>
                              </p:stCondLst>
                            </p:cTn>
                            <p:tgtEl>
                              <p:spTgt spid="20"/>
                            </p:tgtEl>
                            <p:attrNameLst>
                              <p:attrName>style.visibility</p:attrName>
                            </p:attrNameLst>
                          </p:cBhvr>
                          <p:to>
                            <p:strVal val="visible"/>
                          </p:to>
                        </p:set>
                        <p:animEffect transition="in" filter="fade">
                          <p:cBhvr>
                            <p:cTn id="42" dur="500"/>
                            <p:tgtEl>
                              <p:spTgt spid="20"/>
                            </p:tgtEl>
                          </p:cBhvr>
                        </p:animEffect>
                      </p:childTnLst>
                    </p:cTn>
                  </p:par>
                  <p:par>
                    <p:cTn id="50" presetID="10" presetClass="entr" presetSubtype="0" fill="hold" nodeType="clickEffect">
                      <p:stCondLst>
                        <p:cond delay="0"/>
                      </p:stCondLst>
                      <p:childTnLst>
                        <p:set>
                          <p:cBhvr>
                            <p:cTn id="44" dur="1" fill="hold">
                              <p:stCondLst>
                                <p:cond delay="0"/>
                              </p:stCondLst>
                            </p:cTn>
                            <p:tgtEl>
                              <p:spTgt spid="26"/>
                            </p:tgtEl>
                            <p:attrNameLst>
                              <p:attrName>style.visibility</p:attrName>
                            </p:attrNameLst>
                          </p:cBhvr>
                          <p:to>
                            <p:strVal val="visible"/>
                          </p:to>
                        </p:set>
                        <p:animEffect transition="in" filter="fade">
                          <p:cBhvr>
                            <p:cTn id="46" dur="500"/>
                            <p:tgtEl>
                              <p:spTgt spid="26"/>
                            </p:tgtEl>
                          </p:cBhvr>
                        </p:animEffect>
                        <p:set>
                          <p:cBhvr>
                            <p:cTn id="47" dur="1" fill="hold">
                              <p:stCondLst>
                                <p:cond delay="0"/>
                              </p:stCondLst>
                            </p:cTn>
                            <p:tgtEl>
                              <p:spTgt spid="19"/>
                            </p:tgtEl>
                            <p:attrNameLst>
                              <p:attrName>style.visibility</p:attrName>
                            </p:attrNameLst>
                          </p:cBhvr>
                          <p:to>
                            <p:strVal val="visible"/>
                          </p:to>
                        </p:set>
                        <p:animEffect transition="in" filter="fade">
                          <p:cBhvr>
                            <p:cTn id="49" dur="500"/>
                            <p:tgtEl>
                              <p:spTgt spid="19"/>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3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complete the synopsis</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(24 / 21 / 68 / 88 / 38 / 46%)</a:t>
            </a:r>
          </a:p>
        </p:txBody>
      </p:sp>
      <p:sp>
        <p:nvSpPr>
          <p:cNvPr id="11" name="stem"/>
          <p:cNvSpPr txBox="1"/>
          <p:nvPr/>
        </p:nvSpPr>
        <p:spPr>
          <a:xfrm>
            <a:off x="502920" y="1261872"/>
            <a:ext cx="6675120" cy="1481328"/>
          </a:xfrm>
          <a:prstGeom prst="rect">
            <a:avLst/>
          </a:prstGeom>
          <a:noFill/>
        </p:spPr>
        <p:txBody>
          <a:bodyPr wrap="square" anchor="t" lIns="0" rIns="0" tIns="0" bIns="0">
            <a:spAutoFit/>
          </a:bodyPr>
          <a:lstStyle/>
          <a:p>
            <a:pPr algn="l"/>
            <a:r>
              <a:rPr sz="1400" b="1" i="0">
                <a:solidFill>
                  <a:srgbClr val="17365D"/>
                </a:solidFill>
                <a:latin typeface="Aptos"/>
              </a:rPr>
              <a:t>3.  Based on paragraph 3, complete the book synopsis with ONE word in each blank.  (6 marks)</a:t>
            </a:r>
          </a:p>
          <a:p>
            <a:pPr algn="l"/>
            <a:r>
              <a:rPr sz="1200" b="0" i="0">
                <a:solidFill>
                  <a:srgbClr val="5B7083"/>
                </a:solidFill>
                <a:latin typeface="Aptos"/>
              </a:rPr>
              <a:t>Check the grammar — word form, plurals etc.</a:t>
            </a:r>
          </a:p>
          <a:p>
            <a:pPr algn="l"/>
            <a:r>
              <a:rPr sz="1300" b="0" i="0">
                <a:solidFill>
                  <a:srgbClr val="17365D"/>
                </a:solidFill>
                <a:latin typeface="Aptos"/>
              </a:rPr>
              <a:t>The Hunger Games is the (i) ______ book in a trilogy of novels written by Suzanne Collins. The story takes place some time in the (ii) ______ . Two children from (iii) ______ district are forced to compete in the Hunger Games. The contest is held in an (iv) ______ and shown (v) ______ . The sole survivor (vi) ______ .</a:t>
            </a:r>
          </a:p>
        </p:txBody>
      </p:sp>
      <p:pic>
        <p:nvPicPr>
          <p:cNvPr id="12" name="q51a_pic" descr="q51a.png"/>
          <p:cNvPicPr>
            <a:picLocks noChangeAspect="1"/>
          </p:cNvPicPr>
          <p:nvPr/>
        </p:nvPicPr>
        <p:blipFill>
          <a:blip r:embed="rId2"/>
          <a:stretch>
            <a:fillRect/>
          </a:stretch>
        </p:blipFill>
        <p:spPr>
          <a:xfrm>
            <a:off x="502920" y="4663440"/>
            <a:ext cx="2971800" cy="1293529"/>
          </a:xfrm>
          <a:prstGeom prst="rect">
            <a:avLst/>
          </a:prstGeom>
        </p:spPr>
      </p:pic>
      <p:pic>
        <p:nvPicPr>
          <p:cNvPr id="13" name="q51b_pic" descr="q51b.png"/>
          <p:cNvPicPr>
            <a:picLocks noChangeAspect="1"/>
          </p:cNvPicPr>
          <p:nvPr/>
        </p:nvPicPr>
        <p:blipFill>
          <a:blip r:embed="rId3"/>
          <a:stretch>
            <a:fillRect/>
          </a:stretch>
        </p:blipFill>
        <p:spPr>
          <a:xfrm>
            <a:off x="3913632" y="4663440"/>
            <a:ext cx="2971800" cy="1148650"/>
          </a:xfrm>
          <a:prstGeom prst="rect">
            <a:avLst/>
          </a:prstGeom>
        </p:spPr>
      </p:pic>
      <p:sp>
        <p:nvSpPr>
          <p:cNvPr id="14" name="oval_q51a_0"/>
          <p:cNvSpPr/>
          <p:nvPr/>
        </p:nvSpPr>
        <p:spPr>
          <a:xfrm>
            <a:off x="811392" y="5170928"/>
            <a:ext cx="507583" cy="129362"/>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_q51a_1"/>
          <p:cNvSpPr/>
          <p:nvPr/>
        </p:nvSpPr>
        <p:spPr>
          <a:xfrm>
            <a:off x="3172785" y="5333408"/>
            <a:ext cx="272216" cy="126128"/>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_q51a_2"/>
          <p:cNvSpPr/>
          <p:nvPr/>
        </p:nvSpPr>
        <p:spPr>
          <a:xfrm>
            <a:off x="804854" y="5655261"/>
            <a:ext cx="504017" cy="129362"/>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_q51a_3"/>
          <p:cNvSpPr/>
          <p:nvPr/>
        </p:nvSpPr>
        <p:spPr>
          <a:xfrm>
            <a:off x="2333845" y="5814377"/>
            <a:ext cx="838939" cy="205686"/>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_q51b_0"/>
          <p:cNvSpPr/>
          <p:nvPr/>
        </p:nvSpPr>
        <p:spPr>
          <a:xfrm>
            <a:off x="6334460" y="4683425"/>
            <a:ext cx="537598" cy="133582"/>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_q51b_1"/>
          <p:cNvSpPr/>
          <p:nvPr/>
        </p:nvSpPr>
        <p:spPr>
          <a:xfrm>
            <a:off x="5529696" y="4847101"/>
            <a:ext cx="964943" cy="133582"/>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ans1"/>
          <p:cNvSpPr txBox="1"/>
          <p:nvPr/>
        </p:nvSpPr>
        <p:spPr>
          <a:xfrm>
            <a:off x="502920" y="2743200"/>
            <a:ext cx="6583680" cy="502920"/>
          </a:xfrm>
          <a:prstGeom prst="rect">
            <a:avLst/>
          </a:prstGeom>
          <a:noFill/>
        </p:spPr>
        <p:txBody>
          <a:bodyPr wrap="square" anchor="t" lIns="0" rIns="0" tIns="0" bIns="0">
            <a:spAutoFit/>
          </a:bodyPr>
          <a:lstStyle/>
          <a:p>
            <a:pPr algn="l"/>
            <a:r>
              <a:rPr sz="1700" b="1" i="0">
                <a:solidFill>
                  <a:srgbClr val="FF0000"/>
                </a:solidFill>
                <a:latin typeface="Aptos"/>
              </a:rPr>
              <a:t>(i)  first</a:t>
            </a:r>
          </a:p>
        </p:txBody>
      </p:sp>
      <p:sp>
        <p:nvSpPr>
          <p:cNvPr id="21" name="ans2"/>
          <p:cNvSpPr txBox="1"/>
          <p:nvPr/>
        </p:nvSpPr>
        <p:spPr>
          <a:xfrm>
            <a:off x="502920" y="3044952"/>
            <a:ext cx="6583680" cy="502920"/>
          </a:xfrm>
          <a:prstGeom prst="rect">
            <a:avLst/>
          </a:prstGeom>
          <a:noFill/>
        </p:spPr>
        <p:txBody>
          <a:bodyPr wrap="square" anchor="t" lIns="0" rIns="0" tIns="0" bIns="0">
            <a:spAutoFit/>
          </a:bodyPr>
          <a:lstStyle/>
          <a:p>
            <a:pPr algn="l"/>
            <a:r>
              <a:rPr sz="1700" b="1" i="0">
                <a:solidFill>
                  <a:srgbClr val="FF0000"/>
                </a:solidFill>
                <a:latin typeface="Aptos"/>
              </a:rPr>
              <a:t>(ii)  future</a:t>
            </a:r>
          </a:p>
        </p:txBody>
      </p:sp>
      <p:sp>
        <p:nvSpPr>
          <p:cNvPr id="22" name="ans3"/>
          <p:cNvSpPr txBox="1"/>
          <p:nvPr/>
        </p:nvSpPr>
        <p:spPr>
          <a:xfrm>
            <a:off x="502920" y="3346704"/>
            <a:ext cx="6583680" cy="502920"/>
          </a:xfrm>
          <a:prstGeom prst="rect">
            <a:avLst/>
          </a:prstGeom>
          <a:noFill/>
        </p:spPr>
        <p:txBody>
          <a:bodyPr wrap="square" anchor="t" lIns="0" rIns="0" tIns="0" bIns="0">
            <a:spAutoFit/>
          </a:bodyPr>
          <a:lstStyle/>
          <a:p>
            <a:pPr algn="l"/>
            <a:r>
              <a:rPr sz="1700" b="1" i="0">
                <a:solidFill>
                  <a:srgbClr val="FF0000"/>
                </a:solidFill>
                <a:latin typeface="Aptos"/>
              </a:rPr>
              <a:t>(iii)  each</a:t>
            </a:r>
          </a:p>
        </p:txBody>
      </p:sp>
      <p:sp>
        <p:nvSpPr>
          <p:cNvPr id="23" name="ans4"/>
          <p:cNvSpPr txBox="1"/>
          <p:nvPr/>
        </p:nvSpPr>
        <p:spPr>
          <a:xfrm>
            <a:off x="502920" y="3648456"/>
            <a:ext cx="6583680" cy="502920"/>
          </a:xfrm>
          <a:prstGeom prst="rect">
            <a:avLst/>
          </a:prstGeom>
          <a:noFill/>
        </p:spPr>
        <p:txBody>
          <a:bodyPr wrap="square" anchor="t" lIns="0" rIns="0" tIns="0" bIns="0">
            <a:spAutoFit/>
          </a:bodyPr>
          <a:lstStyle/>
          <a:p>
            <a:pPr algn="l"/>
            <a:r>
              <a:rPr sz="1700" b="1" i="0">
                <a:solidFill>
                  <a:srgbClr val="FF0000"/>
                </a:solidFill>
                <a:latin typeface="Aptos"/>
              </a:rPr>
              <a:t>(iv)  outdoor arena</a:t>
            </a:r>
          </a:p>
        </p:txBody>
      </p:sp>
      <p:sp>
        <p:nvSpPr>
          <p:cNvPr id="24" name="ans5"/>
          <p:cNvSpPr txBox="1"/>
          <p:nvPr/>
        </p:nvSpPr>
        <p:spPr>
          <a:xfrm>
            <a:off x="502920" y="3950208"/>
            <a:ext cx="6583680" cy="502920"/>
          </a:xfrm>
          <a:prstGeom prst="rect">
            <a:avLst/>
          </a:prstGeom>
          <a:noFill/>
        </p:spPr>
        <p:txBody>
          <a:bodyPr wrap="square" anchor="t" lIns="0" rIns="0" tIns="0" bIns="0">
            <a:spAutoFit/>
          </a:bodyPr>
          <a:lstStyle/>
          <a:p>
            <a:pPr algn="l"/>
            <a:r>
              <a:rPr sz="1700" b="1" i="0">
                <a:solidFill>
                  <a:srgbClr val="FF0000"/>
                </a:solidFill>
                <a:latin typeface="Aptos"/>
              </a:rPr>
              <a:t>(v)  on television  //  TV</a:t>
            </a:r>
          </a:p>
        </p:txBody>
      </p:sp>
      <p:sp>
        <p:nvSpPr>
          <p:cNvPr id="25" name="ans6"/>
          <p:cNvSpPr txBox="1"/>
          <p:nvPr/>
        </p:nvSpPr>
        <p:spPr>
          <a:xfrm>
            <a:off x="502920" y="4251960"/>
            <a:ext cx="6583680" cy="502920"/>
          </a:xfrm>
          <a:prstGeom prst="rect">
            <a:avLst/>
          </a:prstGeom>
          <a:noFill/>
        </p:spPr>
        <p:txBody>
          <a:bodyPr wrap="square" anchor="t" lIns="0" rIns="0" tIns="0" bIns="0">
            <a:spAutoFit/>
          </a:bodyPr>
          <a:lstStyle/>
          <a:p>
            <a:pPr algn="l"/>
            <a:r>
              <a:rPr sz="1700" b="1" i="0">
                <a:solidFill>
                  <a:srgbClr val="FF0000"/>
                </a:solidFill>
                <a:latin typeface="Aptos"/>
              </a:rPr>
              <a:t>(vi)  wins  //  lives</a:t>
            </a:r>
          </a:p>
        </p:txBody>
      </p:sp>
      <p:sp>
        <p:nvSpPr>
          <p:cNvPr id="26" name="Rounded Rectangle 25"/>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The third book is Mockingjay — so this one is …?</a:t>
            </a:r>
          </a:p>
          <a:p>
            <a:pPr algn="l"/>
            <a:r>
              <a:rPr sz="2200" b="1" i="0">
                <a:solidFill>
                  <a:srgbClr val="FF0000"/>
                </a:solidFill>
                <a:latin typeface="Aptos"/>
              </a:rPr>
              <a:t>(6 marks · 24 / 21 / 68 / 88 / 38 / 46%)</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27"/>
                            </p:tgtEl>
                            <p:attrNameLst>
                              <p:attrName>style.visibility</p:attrName>
                            </p:attrNameLst>
                          </p:cBhvr>
                          <p:to>
                            <p:strVal val="visible"/>
                          </p:to>
                        </p:set>
                        <p:animEffect transition="in" filter="blinds(horizontal)">
                          <p:cBhvr>
                            <p:cTn id="5" dur="500"/>
                            <p:tgtEl>
                              <p:spTgt spid="27"/>
                            </p:tgtEl>
                          </p:cBhvr>
                        </p:animEffect>
                      </p:childTnLst>
                    </p:cTn>
                  </p:par>
                  <p:par>
                    <p:cTn id="13" presetID="10" presetClass="entr" presetSubtype="0" fill="hold" nodeType="clickEffect">
                      <p:stCondLst>
                        <p:cond delay="0"/>
                      </p:stCondLst>
                      <p:childTnLst>
                        <p:set>
                          <p:cBhvr>
                            <p:cTn id="7" dur="1" fill="hold">
                              <p:stCondLst>
                                <p:cond delay="0"/>
                              </p:stCondLst>
                            </p:cTn>
                            <p:tgtEl>
                              <p:spTgt spid="20"/>
                            </p:tgtEl>
                            <p:attrNameLst>
                              <p:attrName>style.visibility</p:attrName>
                            </p:attrNameLst>
                          </p:cBhvr>
                          <p:to>
                            <p:strVal val="visible"/>
                          </p:to>
                        </p:set>
                        <p:animEffect transition="in" filter="fade">
                          <p:cBhvr>
                            <p:cTn id="9" dur="500"/>
                            <p:tgtEl>
                              <p:spTgt spid="20"/>
                            </p:tgtEl>
                          </p:cBhvr>
                        </p:animEffect>
                        <p:set>
                          <p:cBhvr>
                            <p:cTn id="10" dur="1" fill="hold">
                              <p:stCondLst>
                                <p:cond delay="0"/>
                              </p:stCondLst>
                            </p:cTn>
                            <p:tgtEl>
                              <p:spTgt spid="19"/>
                            </p:tgtEl>
                            <p:attrNameLst>
                              <p:attrName>style.visibility</p:attrName>
                            </p:attrNameLst>
                          </p:cBhvr>
                          <p:to>
                            <p:strVal val="visible"/>
                          </p:to>
                        </p:set>
                        <p:animEffect transition="in" filter="fade">
                          <p:cBhvr>
                            <p:cTn id="12" dur="500"/>
                            <p:tgtEl>
                              <p:spTgt spid="19"/>
                            </p:tgtEl>
                          </p:cBhvr>
                        </p:animEffect>
                      </p:childTnLst>
                    </p:cTn>
                  </p:par>
                  <p:par>
                    <p:cTn id="20"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6" dur="500"/>
                            <p:tgtEl>
                              <p:spTgt spid="21"/>
                            </p:tgtEl>
                          </p:cBhvr>
                        </p:animEffect>
                        <p:set>
                          <p:cBhvr>
                            <p:cTn id="17" dur="1" fill="hold">
                              <p:stCondLst>
                                <p:cond delay="0"/>
                              </p:stCondLst>
                            </p:cTn>
                            <p:tgtEl>
                              <p:spTgt spid="14"/>
                            </p:tgtEl>
                            <p:attrNameLst>
                              <p:attrName>style.visibility</p:attrName>
                            </p:attrNameLst>
                          </p:cBhvr>
                          <p:to>
                            <p:strVal val="visible"/>
                          </p:to>
                        </p:set>
                        <p:animEffect transition="in" filter="fade">
                          <p:cBhvr>
                            <p:cTn id="19" dur="500"/>
                            <p:tgtEl>
                              <p:spTgt spid="14"/>
                            </p:tgtEl>
                          </p:cBhvr>
                        </p:animEffect>
                      </p:childTnLst>
                    </p:cTn>
                  </p:par>
                  <p:par>
                    <p:cTn id="27"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3" dur="500"/>
                            <p:tgtEl>
                              <p:spTgt spid="22"/>
                            </p:tgtEl>
                          </p:cBhvr>
                        </p:animEffect>
                        <p:set>
                          <p:cBhvr>
                            <p:cTn id="24" dur="1" fill="hold">
                              <p:stCondLst>
                                <p:cond delay="0"/>
                              </p:stCondLst>
                            </p:cTn>
                            <p:tgtEl>
                              <p:spTgt spid="15"/>
                            </p:tgtEl>
                            <p:attrNameLst>
                              <p:attrName>style.visibility</p:attrName>
                            </p:attrNameLst>
                          </p:cBhvr>
                          <p:to>
                            <p:strVal val="visible"/>
                          </p:to>
                        </p:set>
                        <p:animEffect transition="in" filter="fade">
                          <p:cBhvr>
                            <p:cTn id="26" dur="500"/>
                            <p:tgtEl>
                              <p:spTgt spid="15"/>
                            </p:tgtEl>
                          </p:cBhvr>
                        </p:animEffect>
                      </p:childTnLst>
                    </p:cTn>
                  </p:par>
                  <p:par>
                    <p:cTn id="34" presetID="10" presetClass="entr" presetSubtype="0" fill="hold" nodeType="clickEffect">
                      <p:stCondLst>
                        <p:cond delay="0"/>
                      </p:stCondLst>
                      <p:childTnLst>
                        <p:set>
                          <p:cBhvr>
                            <p:cTn id="28" dur="1" fill="hold">
                              <p:stCondLst>
                                <p:cond delay="0"/>
                              </p:stCondLst>
                            </p:cTn>
                            <p:tgtEl>
                              <p:spTgt spid="23"/>
                            </p:tgtEl>
                            <p:attrNameLst>
                              <p:attrName>style.visibility</p:attrName>
                            </p:attrNameLst>
                          </p:cBhvr>
                          <p:to>
                            <p:strVal val="visible"/>
                          </p:to>
                        </p:set>
                        <p:animEffect transition="in" filter="fade">
                          <p:cBhvr>
                            <p:cTn id="30" dur="500"/>
                            <p:tgtEl>
                              <p:spTgt spid="23"/>
                            </p:tgtEl>
                          </p:cBhvr>
                        </p:animEffect>
                        <p:set>
                          <p:cBhvr>
                            <p:cTn id="31" dur="1" fill="hold">
                              <p:stCondLst>
                                <p:cond delay="0"/>
                              </p:stCondLst>
                            </p:cTn>
                            <p:tgtEl>
                              <p:spTgt spid="17"/>
                            </p:tgtEl>
                            <p:attrNameLst>
                              <p:attrName>style.visibility</p:attrName>
                            </p:attrNameLst>
                          </p:cBhvr>
                          <p:to>
                            <p:strVal val="visible"/>
                          </p:to>
                        </p:set>
                        <p:animEffect transition="in" filter="fade">
                          <p:cBhvr>
                            <p:cTn id="33" dur="500"/>
                            <p:tgtEl>
                              <p:spTgt spid="17"/>
                            </p:tgtEl>
                          </p:cBhvr>
                        </p:animEffect>
                      </p:childTnLst>
                    </p:cTn>
                  </p:par>
                  <p:par>
                    <p:cTn id="41" presetID="10" presetClass="entr" presetSubtype="0" fill="hold" nodeType="clickEffect">
                      <p:stCondLst>
                        <p:cond delay="0"/>
                      </p:stCondLst>
                      <p:childTnLst>
                        <p:set>
                          <p:cBhvr>
                            <p:cTn id="35" dur="1" fill="hold">
                              <p:stCondLst>
                                <p:cond delay="0"/>
                              </p:stCondLst>
                            </p:cTn>
                            <p:tgtEl>
                              <p:spTgt spid="24"/>
                            </p:tgtEl>
                            <p:attrNameLst>
                              <p:attrName>style.visibility</p:attrName>
                            </p:attrNameLst>
                          </p:cBhvr>
                          <p:to>
                            <p:strVal val="visible"/>
                          </p:to>
                        </p:set>
                        <p:animEffect transition="in" filter="fade">
                          <p:cBhvr>
                            <p:cTn id="37" dur="500"/>
                            <p:tgtEl>
                              <p:spTgt spid="24"/>
                            </p:tgtEl>
                          </p:cBhvr>
                        </p:animEffect>
                        <p:set>
                          <p:cBhvr>
                            <p:cTn id="38" dur="1" fill="hold">
                              <p:stCondLst>
                                <p:cond delay="0"/>
                              </p:stCondLst>
                            </p:cTn>
                            <p:tgtEl>
                              <p:spTgt spid="16"/>
                            </p:tgtEl>
                            <p:attrNameLst>
                              <p:attrName>style.visibility</p:attrName>
                            </p:attrNameLst>
                          </p:cBhvr>
                          <p:to>
                            <p:strVal val="visible"/>
                          </p:to>
                        </p:set>
                        <p:animEffect transition="in" filter="fade">
                          <p:cBhvr>
                            <p:cTn id="40" dur="500"/>
                            <p:tgtEl>
                              <p:spTgt spid="16"/>
                            </p:tgtEl>
                          </p:cBhvr>
                        </p:animEffect>
                      </p:childTnLst>
                    </p:cTn>
                  </p:par>
                  <p:par>
                    <p:cTn id="48" presetID="10" presetClass="entr" presetSubtype="0" fill="hold" nodeType="clickEffect">
                      <p:stCondLst>
                        <p:cond delay="0"/>
                      </p:stCondLst>
                      <p:childTnLst>
                        <p:set>
                          <p:cBhvr>
                            <p:cTn id="42" dur="1" fill="hold">
                              <p:stCondLst>
                                <p:cond delay="0"/>
                              </p:stCondLst>
                            </p:cTn>
                            <p:tgtEl>
                              <p:spTgt spid="25"/>
                            </p:tgtEl>
                            <p:attrNameLst>
                              <p:attrName>style.visibility</p:attrName>
                            </p:attrNameLst>
                          </p:cBhvr>
                          <p:to>
                            <p:strVal val="visible"/>
                          </p:to>
                        </p:set>
                        <p:animEffect transition="in" filter="fade">
                          <p:cBhvr>
                            <p:cTn id="44" dur="500"/>
                            <p:tgtEl>
                              <p:spTgt spid="25"/>
                            </p:tgtEl>
                          </p:cBhvr>
                        </p:animEffect>
                        <p:set>
                          <p:cBhvr>
                            <p:cTn id="45" dur="1" fill="hold">
                              <p:stCondLst>
                                <p:cond delay="0"/>
                              </p:stCondLst>
                            </p:cTn>
                            <p:tgtEl>
                              <p:spTgt spid="18"/>
                            </p:tgtEl>
                            <p:attrNameLst>
                              <p:attrName>style.visibility</p:attrName>
                            </p:attrNameLst>
                          </p:cBhvr>
                          <p:to>
                            <p:strVal val="visible"/>
                          </p:to>
                        </p:set>
                        <p:animEffect transition="in" filter="fade">
                          <p:cBhvr>
                            <p:cTn id="47" dur="500"/>
                            <p:tgtEl>
                              <p:spTgt spid="18"/>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4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write your answer</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(23%)</a:t>
            </a:r>
          </a:p>
        </p:txBody>
      </p:sp>
      <p:sp>
        <p:nvSpPr>
          <p:cNvPr id="11" name="stem"/>
          <p:cNvSpPr txBox="1"/>
          <p:nvPr/>
        </p:nvSpPr>
        <p:spPr>
          <a:xfrm>
            <a:off x="502920" y="1261872"/>
            <a:ext cx="6675120" cy="777240"/>
          </a:xfrm>
          <a:prstGeom prst="rect">
            <a:avLst/>
          </a:prstGeom>
          <a:noFill/>
        </p:spPr>
        <p:txBody>
          <a:bodyPr wrap="square" anchor="t" lIns="0" rIns="0" tIns="0" bIns="0">
            <a:spAutoFit/>
          </a:bodyPr>
          <a:lstStyle/>
          <a:p>
            <a:pPr algn="l"/>
            <a:r>
              <a:rPr sz="2000" b="1" i="0">
                <a:solidFill>
                  <a:srgbClr val="17365D"/>
                </a:solidFill>
                <a:latin typeface="Aptos"/>
              </a:rPr>
              <a:t>4.  What does the simile </a:t>
            </a:r>
            <a:r>
              <a:rPr sz="2000" b="1" i="0">
                <a:solidFill>
                  <a:srgbClr val="FF0000"/>
                </a:solidFill>
                <a:latin typeface="Aptos"/>
              </a:rPr>
              <a:t>“like a wicked strain of the flu”</a:t>
            </a:r>
            <a:r>
              <a:rPr sz="2000" b="1" i="0">
                <a:solidFill>
                  <a:srgbClr val="17365D"/>
                </a:solidFill>
                <a:latin typeface="Aptos"/>
              </a:rPr>
              <a:t> (lines 68–69) suggest about the book The White Mountains?</a:t>
            </a:r>
          </a:p>
        </p:txBody>
      </p:sp>
      <p:pic>
        <p:nvPicPr>
          <p:cNvPr id="12" name="q55_pic" descr="q55.png"/>
          <p:cNvPicPr>
            <a:picLocks noChangeAspect="1"/>
          </p:cNvPicPr>
          <p:nvPr/>
        </p:nvPicPr>
        <p:blipFill>
          <a:blip r:embed="rId2"/>
          <a:stretch>
            <a:fillRect/>
          </a:stretch>
        </p:blipFill>
        <p:spPr>
          <a:xfrm>
            <a:off x="502920" y="3520440"/>
            <a:ext cx="6400800" cy="1798632"/>
          </a:xfrm>
          <a:prstGeom prst="rect">
            <a:avLst/>
          </a:prstGeom>
        </p:spPr>
      </p:pic>
      <p:sp>
        <p:nvSpPr>
          <p:cNvPr id="13" name="oval_q55_0"/>
          <p:cNvSpPr/>
          <p:nvPr/>
        </p:nvSpPr>
        <p:spPr>
          <a:xfrm>
            <a:off x="1143640" y="4984166"/>
            <a:ext cx="3254806" cy="305767"/>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ns1"/>
          <p:cNvSpPr txBox="1"/>
          <p:nvPr/>
        </p:nvSpPr>
        <p:spPr>
          <a:xfrm>
            <a:off x="502920" y="2121408"/>
            <a:ext cx="6583680" cy="1280160"/>
          </a:xfrm>
          <a:prstGeom prst="rect">
            <a:avLst/>
          </a:prstGeom>
          <a:noFill/>
        </p:spPr>
        <p:txBody>
          <a:bodyPr wrap="square" anchor="t" lIns="0" rIns="0" tIns="0" bIns="0">
            <a:spAutoFit/>
          </a:bodyPr>
          <a:lstStyle/>
          <a:p>
            <a:pPr algn="l"/>
            <a:r>
              <a:rPr sz="1900" b="1" i="0">
                <a:solidFill>
                  <a:srgbClr val="FF0000"/>
                </a:solidFill>
                <a:latin typeface="Aptos"/>
              </a:rPr>
              <a:t>the interest in dystopian novels for young-adult readers spread very quickly  //  the book was infectious  //  it was popular / a big hit (among teens, among her classmates)</a:t>
            </a:r>
          </a:p>
        </p:txBody>
      </p:sp>
      <p:sp>
        <p:nvSpPr>
          <p:cNvPr id="15" name="Rounded Rectangle 14"/>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What did the book do to her whole class?</a:t>
            </a:r>
          </a:p>
          <a:p>
            <a:pPr algn="l"/>
            <a:r>
              <a:rPr sz="2200" b="1" i="0">
                <a:solidFill>
                  <a:srgbClr val="FF0000"/>
                </a:solidFill>
                <a:latin typeface="Aptos"/>
              </a:rPr>
              <a:t>(1 mark · 23%)</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blinds(horizontal)">
                          <p:cBhvr>
                            <p:cTn id="5" dur="500"/>
                            <p:tgtEl>
                              <p:spTgt spid="16"/>
                            </p:tgtEl>
                          </p:cBhvr>
                        </p:animEffect>
                      </p:childTnLst>
                    </p:cTn>
                  </p:par>
                  <p:par>
                    <p:cTn id="10" presetID="10" presetClass="entr" presetSubtype="0" fill="hold" nodeType="clickEffect">
                      <p:stCondLst>
                        <p:cond delay="0"/>
                      </p:stCondLst>
                      <p:childTnLst>
                        <p:set>
                          <p:cBhvr>
                            <p:cTn id="7" dur="1" fill="hold">
                              <p:stCondLst>
                                <p:cond delay="0"/>
                              </p:stCondLst>
                            </p:cTn>
                            <p:tgtEl>
                              <p:spTgt spid="14"/>
                            </p:tgtEl>
                            <p:attrNameLst>
                              <p:attrName>style.visibility</p:attrName>
                            </p:attrNameLst>
                          </p:cBhvr>
                          <p:to>
                            <p:strVal val="visible"/>
                          </p:to>
                        </p:set>
                        <p:animEffect transition="in" filter="fade">
                          <p:cBhvr>
                            <p:cTn id="9" dur="500"/>
                            <p:tgtEl>
                              <p:spTgt spid="14"/>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5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write your answer</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(69%)</a:t>
            </a:r>
          </a:p>
        </p:txBody>
      </p:sp>
      <p:sp>
        <p:nvSpPr>
          <p:cNvPr id="11" name="stem"/>
          <p:cNvSpPr txBox="1"/>
          <p:nvPr/>
        </p:nvSpPr>
        <p:spPr>
          <a:xfrm>
            <a:off x="502920" y="1261872"/>
            <a:ext cx="6675120" cy="658368"/>
          </a:xfrm>
          <a:prstGeom prst="rect">
            <a:avLst/>
          </a:prstGeom>
          <a:noFill/>
        </p:spPr>
        <p:txBody>
          <a:bodyPr wrap="square" anchor="t" lIns="0" rIns="0" tIns="0" bIns="0">
            <a:spAutoFit/>
          </a:bodyPr>
          <a:lstStyle/>
          <a:p>
            <a:pPr algn="l"/>
            <a:r>
              <a:rPr sz="2000" b="1" i="0">
                <a:solidFill>
                  <a:srgbClr val="17365D"/>
                </a:solidFill>
                <a:latin typeface="Aptos"/>
              </a:rPr>
              <a:t>5.  In paragraph 7, find a word which means “a major disaster”.</a:t>
            </a:r>
          </a:p>
        </p:txBody>
      </p:sp>
      <p:pic>
        <p:nvPicPr>
          <p:cNvPr id="12" name="q59a_pic" descr="q59a.png"/>
          <p:cNvPicPr>
            <a:picLocks noChangeAspect="1"/>
          </p:cNvPicPr>
          <p:nvPr/>
        </p:nvPicPr>
        <p:blipFill>
          <a:blip r:embed="rId2"/>
          <a:stretch>
            <a:fillRect/>
          </a:stretch>
        </p:blipFill>
        <p:spPr>
          <a:xfrm>
            <a:off x="502920" y="2788920"/>
            <a:ext cx="3154680" cy="1698135"/>
          </a:xfrm>
          <a:prstGeom prst="rect">
            <a:avLst/>
          </a:prstGeom>
        </p:spPr>
      </p:pic>
      <p:pic>
        <p:nvPicPr>
          <p:cNvPr id="13" name="q59b_pic" descr="q59b.png"/>
          <p:cNvPicPr>
            <a:picLocks noChangeAspect="1"/>
          </p:cNvPicPr>
          <p:nvPr/>
        </p:nvPicPr>
        <p:blipFill>
          <a:blip r:embed="rId3"/>
          <a:stretch>
            <a:fillRect/>
          </a:stretch>
        </p:blipFill>
        <p:spPr>
          <a:xfrm>
            <a:off x="3749039" y="2788920"/>
            <a:ext cx="3154680" cy="1848821"/>
          </a:xfrm>
          <a:prstGeom prst="rect">
            <a:avLst/>
          </a:prstGeom>
        </p:spPr>
      </p:pic>
      <p:sp>
        <p:nvSpPr>
          <p:cNvPr id="14" name="oval_q59b_0"/>
          <p:cNvSpPr/>
          <p:nvPr/>
        </p:nvSpPr>
        <p:spPr>
          <a:xfrm>
            <a:off x="4113405" y="3833766"/>
            <a:ext cx="694029" cy="164927"/>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_q59b_1"/>
          <p:cNvSpPr/>
          <p:nvPr/>
        </p:nvSpPr>
        <p:spPr>
          <a:xfrm>
            <a:off x="4797024" y="4328547"/>
            <a:ext cx="646078" cy="164927"/>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ans1"/>
          <p:cNvSpPr txBox="1"/>
          <p:nvPr/>
        </p:nvSpPr>
        <p:spPr>
          <a:xfrm>
            <a:off x="502920" y="1755648"/>
            <a:ext cx="6583680" cy="502920"/>
          </a:xfrm>
          <a:prstGeom prst="rect">
            <a:avLst/>
          </a:prstGeom>
          <a:noFill/>
        </p:spPr>
        <p:txBody>
          <a:bodyPr wrap="square" anchor="t" lIns="0" rIns="0" tIns="0" bIns="0">
            <a:spAutoFit/>
          </a:bodyPr>
          <a:lstStyle/>
          <a:p>
            <a:pPr algn="l"/>
            <a:r>
              <a:rPr sz="2800" b="1" i="0">
                <a:solidFill>
                  <a:srgbClr val="FF0000"/>
                </a:solidFill>
                <a:latin typeface="Aptos"/>
              </a:rPr>
              <a:t>catastrophe   //   apocalypse</a:t>
            </a:r>
          </a:p>
        </p:txBody>
      </p:sp>
      <p:sp>
        <p:nvSpPr>
          <p:cNvPr id="17" name="Rounded Rectangle 16"/>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Look for a NOUN — and do not write “disaster”</a:t>
            </a:r>
          </a:p>
          <a:p>
            <a:pPr algn="l"/>
            <a:r>
              <a:rPr sz="2200" b="1" i="0">
                <a:solidFill>
                  <a:srgbClr val="FF0000"/>
                </a:solidFill>
                <a:latin typeface="Aptos"/>
              </a:rPr>
              <a:t>(1 mark · 69%)</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18"/>
                            </p:tgtEl>
                            <p:attrNameLst>
                              <p:attrName>style.visibility</p:attrName>
                            </p:attrNameLst>
                          </p:cBhvr>
                          <p:to>
                            <p:strVal val="visible"/>
                          </p:to>
                        </p:set>
                        <p:animEffect transition="in" filter="blinds(horizontal)">
                          <p:cBhvr>
                            <p:cTn id="5" dur="500"/>
                            <p:tgtEl>
                              <p:spTgt spid="18"/>
                            </p:tgtEl>
                          </p:cBhvr>
                        </p:animEffect>
                      </p:childTnLst>
                    </p:cTn>
                  </p:par>
                  <p:par>
                    <p:cTn id="16" presetID="10" presetClass="entr" presetSubtype="0" fill="hold" nodeType="clickEffect">
                      <p:stCondLst>
                        <p:cond delay="0"/>
                      </p:stCondLst>
                      <p:childTnLst>
                        <p:set>
                          <p:cBhvr>
                            <p:cTn id="7" dur="1" fill="hold">
                              <p:stCondLst>
                                <p:cond delay="0"/>
                              </p:stCondLst>
                            </p:cTn>
                            <p:tgtEl>
                              <p:spTgt spid="16"/>
                            </p:tgtEl>
                            <p:attrNameLst>
                              <p:attrName>style.visibility</p:attrName>
                            </p:attrNameLst>
                          </p:cBhvr>
                          <p:to>
                            <p:strVal val="visible"/>
                          </p:to>
                        </p:set>
                        <p:animEffect transition="in" filter="fade">
                          <p:cBhvr>
                            <p:cTn id="9" dur="500"/>
                            <p:tgtEl>
                              <p:spTgt spid="16"/>
                            </p:tgtEl>
                          </p:cBhvr>
                        </p:animEffect>
                        <p:set>
                          <p:cBhvr>
                            <p:cTn id="10" dur="1" fill="hold">
                              <p:stCondLst>
                                <p:cond delay="0"/>
                              </p:stCondLst>
                            </p:cTn>
                            <p:tgtEl>
                              <p:spTgt spid="14"/>
                            </p:tgtEl>
                            <p:attrNameLst>
                              <p:attrName>style.visibility</p:attrName>
                            </p:attrNameLst>
                          </p:cBhvr>
                          <p:to>
                            <p:strVal val="visible"/>
                          </p:to>
                        </p:set>
                        <p:animEffect transition="in" filter="fade">
                          <p:cBhvr>
                            <p:cTn id="12" dur="500"/>
                            <p:tgtEl>
                              <p:spTgt spid="14"/>
                            </p:tgtEl>
                          </p:cBhvr>
                        </p:animEffect>
                        <p:set>
                          <p:cBhvr>
                            <p:cTn id="13" dur="1" fill="hold">
                              <p:stCondLst>
                                <p:cond delay="0"/>
                              </p:stCondLst>
                            </p:cTn>
                            <p:tgtEl>
                              <p:spTgt spid="15"/>
                            </p:tgtEl>
                            <p:attrNameLst>
                              <p:attrName>style.visibility</p:attrName>
                            </p:attrNameLst>
                          </p:cBhvr>
                          <p:to>
                            <p:strVal val="visible"/>
                          </p:to>
                        </p:set>
                        <p:animEffect transition="in" filter="fade">
                          <p:cBhvr>
                            <p:cTn id="15" dur="500"/>
                            <p:tgtEl>
                              <p:spTgt spid="15"/>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384048"/>
            <a:ext cx="12188952" cy="6473952"/>
          </a:xfrm>
          <a:prstGeom prst="rect">
            <a:avLst/>
          </a:prstGeom>
          <a:solidFill>
            <a:srgbClr val="FDFB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146304"/>
          </a:xfrm>
          <a:prstGeom prst="rect">
            <a:avLst/>
          </a:prstGeom>
          <a:solidFill>
            <a:srgbClr val="45B7A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kicker"/>
          <p:cNvSpPr txBox="1"/>
          <p:nvPr/>
        </p:nvSpPr>
        <p:spPr>
          <a:xfrm>
            <a:off x="502920" y="274320"/>
            <a:ext cx="8686800" cy="320040"/>
          </a:xfrm>
          <a:prstGeom prst="rect">
            <a:avLst/>
          </a:prstGeom>
          <a:noFill/>
        </p:spPr>
        <p:txBody>
          <a:bodyPr wrap="square" anchor="t" lIns="0" rIns="0" tIns="0" bIns="0">
            <a:spAutoFit/>
          </a:bodyPr>
          <a:lstStyle/>
          <a:p>
            <a:pPr algn="l"/>
            <a:r>
              <a:rPr sz="1000" b="1" i="0">
                <a:solidFill>
                  <a:srgbClr val="45B7A5"/>
                </a:solidFill>
                <a:latin typeface="Aptos"/>
              </a:rPr>
              <a:t>QUESTION 6 OF 6</a:t>
            </a:r>
          </a:p>
        </p:txBody>
      </p:sp>
      <p:sp>
        <p:nvSpPr>
          <p:cNvPr id="5" name="title"/>
          <p:cNvSpPr txBox="1"/>
          <p:nvPr/>
        </p:nvSpPr>
        <p:spPr>
          <a:xfrm>
            <a:off x="502920" y="621792"/>
            <a:ext cx="10515600" cy="640080"/>
          </a:xfrm>
          <a:prstGeom prst="rect">
            <a:avLst/>
          </a:prstGeom>
          <a:noFill/>
        </p:spPr>
        <p:txBody>
          <a:bodyPr wrap="square" anchor="t" lIns="0" rIns="0" tIns="0" bIns="0">
            <a:spAutoFit/>
          </a:bodyPr>
          <a:lstStyle/>
          <a:p>
            <a:pPr algn="l"/>
            <a:r>
              <a:rPr sz="2600" b="1" i="0">
                <a:solidFill>
                  <a:srgbClr val="17365D"/>
                </a:solidFill>
                <a:latin typeface="Aptos"/>
              </a:rPr>
              <a:t>Read the paragraph — then write your answer</a:t>
            </a:r>
          </a:p>
        </p:txBody>
      </p:sp>
      <p:sp>
        <p:nvSpPr>
          <p:cNvPr id="6" name="Oval 5"/>
          <p:cNvSpPr/>
          <p:nvPr/>
        </p:nvSpPr>
        <p:spPr>
          <a:xfrm>
            <a:off x="11109960" y="384048"/>
            <a:ext cx="438912" cy="438912"/>
          </a:xfrm>
          <a:prstGeom prst="ellipse">
            <a:avLst/>
          </a:prstGeom>
          <a:solidFill>
            <a:srgbClr val="F7D7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Oval 6"/>
          <p:cNvSpPr/>
          <p:nvPr/>
        </p:nvSpPr>
        <p:spPr>
          <a:xfrm>
            <a:off x="11146536"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1131112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1494008" y="18288"/>
            <a:ext cx="109728" cy="109728"/>
          </a:xfrm>
          <a:prstGeom prst="ellipse">
            <a:avLst/>
          </a:prstGeom>
          <a:solidFill>
            <a:srgbClr val="F28C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corner"/>
          <p:cNvSpPr txBox="1"/>
          <p:nvPr/>
        </p:nvSpPr>
        <p:spPr>
          <a:xfrm>
            <a:off x="8503920" y="256032"/>
            <a:ext cx="3108960" cy="384048"/>
          </a:xfrm>
          <a:prstGeom prst="rect">
            <a:avLst/>
          </a:prstGeom>
          <a:noFill/>
        </p:spPr>
        <p:txBody>
          <a:bodyPr wrap="square" anchor="t" lIns="0" rIns="0" tIns="0" bIns="0">
            <a:spAutoFit/>
          </a:bodyPr>
          <a:lstStyle/>
          <a:p>
            <a:pPr algn="r"/>
            <a:r>
              <a:rPr sz="1200" b="0" i="0">
                <a:solidFill>
                  <a:srgbClr val="5B7083"/>
                </a:solidFill>
                <a:latin typeface="Aptos"/>
              </a:rPr>
              <a:t>(18%)</a:t>
            </a:r>
          </a:p>
        </p:txBody>
      </p:sp>
      <p:sp>
        <p:nvSpPr>
          <p:cNvPr id="11" name="stem"/>
          <p:cNvSpPr txBox="1"/>
          <p:nvPr/>
        </p:nvSpPr>
        <p:spPr>
          <a:xfrm>
            <a:off x="502920" y="1261872"/>
            <a:ext cx="6675120" cy="658368"/>
          </a:xfrm>
          <a:prstGeom prst="rect">
            <a:avLst/>
          </a:prstGeom>
          <a:noFill/>
        </p:spPr>
        <p:txBody>
          <a:bodyPr wrap="square" anchor="t" lIns="0" rIns="0" tIns="0" bIns="0">
            <a:spAutoFit/>
          </a:bodyPr>
          <a:lstStyle/>
          <a:p>
            <a:pPr algn="l"/>
            <a:r>
              <a:rPr sz="2000" b="1" i="0">
                <a:solidFill>
                  <a:srgbClr val="17365D"/>
                </a:solidFill>
                <a:latin typeface="Aptos"/>
              </a:rPr>
              <a:t>6.  What does </a:t>
            </a:r>
            <a:r>
              <a:rPr sz="2000" b="1" i="0">
                <a:solidFill>
                  <a:srgbClr val="FF0000"/>
                </a:solidFill>
                <a:latin typeface="Aptos"/>
              </a:rPr>
              <a:t>“this”</a:t>
            </a:r>
            <a:r>
              <a:rPr sz="2000" b="1" i="0">
                <a:solidFill>
                  <a:srgbClr val="17365D"/>
                </a:solidFill>
                <a:latin typeface="Aptos"/>
              </a:rPr>
              <a:t> (line 139) refer to?</a:t>
            </a:r>
          </a:p>
        </p:txBody>
      </p:sp>
      <p:pic>
        <p:nvPicPr>
          <p:cNvPr id="12" name="q62_pic" descr="q62.png"/>
          <p:cNvPicPr>
            <a:picLocks noChangeAspect="1"/>
          </p:cNvPicPr>
          <p:nvPr/>
        </p:nvPicPr>
        <p:blipFill>
          <a:blip r:embed="rId2"/>
          <a:stretch>
            <a:fillRect/>
          </a:stretch>
        </p:blipFill>
        <p:spPr>
          <a:xfrm>
            <a:off x="502920" y="2788920"/>
            <a:ext cx="6400800" cy="3124060"/>
          </a:xfrm>
          <a:prstGeom prst="rect">
            <a:avLst/>
          </a:prstGeom>
        </p:spPr>
      </p:pic>
      <p:sp>
        <p:nvSpPr>
          <p:cNvPr id="13" name="oval_q62_0"/>
          <p:cNvSpPr/>
          <p:nvPr/>
        </p:nvSpPr>
        <p:spPr>
          <a:xfrm>
            <a:off x="1084112" y="2824221"/>
            <a:ext cx="4639299" cy="563580"/>
          </a:xfrm>
          <a:prstGeom prst="ellipse">
            <a:avLst/>
          </a:prstGeom>
          <a:noFill/>
          <a:ln w="28575">
            <a:solidFill>
              <a:srgbClr val="FF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ans1"/>
          <p:cNvSpPr txBox="1"/>
          <p:nvPr/>
        </p:nvSpPr>
        <p:spPr>
          <a:xfrm>
            <a:off x="502920" y="1755648"/>
            <a:ext cx="6583680" cy="822960"/>
          </a:xfrm>
          <a:prstGeom prst="rect">
            <a:avLst/>
          </a:prstGeom>
          <a:noFill/>
        </p:spPr>
        <p:txBody>
          <a:bodyPr wrap="square" anchor="t" lIns="0" rIns="0" tIns="0" bIns="0">
            <a:spAutoFit/>
          </a:bodyPr>
          <a:lstStyle/>
          <a:p>
            <a:pPr algn="l"/>
            <a:r>
              <a:rPr sz="2200" b="1" i="0">
                <a:solidFill>
                  <a:srgbClr val="FF0000"/>
                </a:solidFill>
                <a:latin typeface="Aptos"/>
              </a:rPr>
              <a:t>children not having control in the world   //   (children) don’t run the world</a:t>
            </a:r>
          </a:p>
        </p:txBody>
      </p:sp>
      <p:sp>
        <p:nvSpPr>
          <p:cNvPr id="15" name="Rounded Rectangle 14"/>
          <p:cNvSpPr/>
          <p:nvPr/>
        </p:nvSpPr>
        <p:spPr>
          <a:xfrm>
            <a:off x="7178040" y="2194560"/>
            <a:ext cx="4389120" cy="4114800"/>
          </a:xfrm>
          <a:prstGeom prst="roundRect">
            <a:avLst/>
          </a:prstGeom>
          <a:solidFill>
            <a:srgbClr val="EEE8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exp"/>
          <p:cNvSpPr txBox="1"/>
          <p:nvPr/>
        </p:nvSpPr>
        <p:spPr>
          <a:xfrm>
            <a:off x="7470648" y="2322576"/>
            <a:ext cx="3986784" cy="3858768"/>
          </a:xfrm>
          <a:prstGeom prst="rect">
            <a:avLst/>
          </a:prstGeom>
          <a:noFill/>
        </p:spPr>
        <p:txBody>
          <a:bodyPr wrap="square" anchor="t" lIns="0" rIns="0" tIns="0" bIns="0">
            <a:spAutoFit/>
          </a:bodyPr>
          <a:lstStyle/>
          <a:p>
            <a:pPr algn="l"/>
            <a:r>
              <a:rPr sz="2400" b="1" i="0">
                <a:solidFill>
                  <a:srgbClr val="2F75B5"/>
                </a:solidFill>
                <a:latin typeface="Aptos"/>
              </a:rPr>
              <a:t>Evidence &amp; explanation</a:t>
            </a:r>
          </a:p>
          <a:p>
            <a:pPr algn="l"/>
            <a:r>
              <a:rPr sz="2200" b="1" i="0">
                <a:solidFill>
                  <a:srgbClr val="FF0000"/>
                </a:solidFill>
                <a:latin typeface="Aptos"/>
              </a:rPr>
              <a:t>Read back to the subject of the paragraph</a:t>
            </a:r>
          </a:p>
          <a:p>
            <a:pPr algn="l"/>
            <a:r>
              <a:rPr sz="2200" b="1" i="0">
                <a:solidFill>
                  <a:srgbClr val="FF0000"/>
                </a:solidFill>
                <a:latin typeface="Aptos"/>
              </a:rPr>
              <a:t>(1 mark · 18%)</a:t>
            </a:r>
          </a:p>
        </p:txBody>
      </p:sp>
    </p:spTree>
  </p:cSld>
  <p:clrMapOvr>
    <a:masterClrMapping/>
  </p:clrMapOvr>
  <p:timing>
    <p:tnLst>
      <p:par>
        <p:cTn id="1" dur="indefinite" restart="never" nodeType="tmRoot">
          <p:childTnLst>
            <p:seq concurrent="1" nextAc="seek">
              <p:cTn id="2" dur="indefinite" nodeType="mainSeq">
                <p:childTnLst>
                  <p:par>
                    <p:cTn id="6" presetID="3" presetClass="entr" presetSubtype="10" fill="hold" nodeType="clickEffect">
                      <p:stCondLst>
                        <p:cond delay="0"/>
                      </p:stCondLst>
                      <p:childTnLst>
                        <p:set>
                          <p:cBhvr>
                            <p:cTn id="3" dur="1" fill="hold">
                              <p:stCondLst>
                                <p:cond delay="0"/>
                              </p:stCondLst>
                            </p:cTn>
                            <p:tgtEl>
                              <p:spTgt spid="16"/>
                            </p:tgtEl>
                            <p:attrNameLst>
                              <p:attrName>style.visibility</p:attrName>
                            </p:attrNameLst>
                          </p:cBhvr>
                          <p:to>
                            <p:strVal val="visible"/>
                          </p:to>
                        </p:set>
                        <p:animEffect transition="in" filter="blinds(horizontal)">
                          <p:cBhvr>
                            <p:cTn id="5" dur="500"/>
                            <p:tgtEl>
                              <p:spTgt spid="16"/>
                            </p:tgtEl>
                          </p:cBhvr>
                        </p:animEffect>
                      </p:childTnLst>
                    </p:cTn>
                  </p:par>
                  <p:par>
                    <p:cTn id="10" presetID="10" presetClass="entr" presetSubtype="0" fill="hold" nodeType="clickEffect">
                      <p:stCondLst>
                        <p:cond delay="0"/>
                      </p:stCondLst>
                      <p:childTnLst>
                        <p:set>
                          <p:cBhvr>
                            <p:cTn id="7" dur="1" fill="hold">
                              <p:stCondLst>
                                <p:cond delay="0"/>
                              </p:stCondLst>
                            </p:cTn>
                            <p:tgtEl>
                              <p:spTgt spid="14"/>
                            </p:tgtEl>
                            <p:attrNameLst>
                              <p:attrName>style.visibility</p:attrName>
                            </p:attrNameLst>
                          </p:cBhvr>
                          <p:to>
                            <p:strVal val="visible"/>
                          </p:to>
                        </p:set>
                        <p:animEffect transition="in" filter="fade">
                          <p:cBhvr>
                            <p:cTn id="9" dur="500"/>
                            <p:tgtEl>
                              <p:spTgt spid="14"/>
                            </p:tgtEl>
                          </p:cBhvr>
                        </p:animEffect>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