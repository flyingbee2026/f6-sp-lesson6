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F.6 SP — Lesson 6: DSE 2013 Paper 1 Part B2 (Text 4, dystopian fiction).</a:t>
            </a:r>
          </a:p>
          <a:p>
            <a:r>
              <a:rPr sz="1200"/>
              <a:t>This lesson focuses on CLOZE / gap-fill questions: 10 vocabulary items, one exam tip, 4 demos, then 6 real exam questions (15 marks).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Vocabulary warm-up. Students match 1–10 to A–J in pairs, then click one letter at a time to confirm.</a:t>
            </a:r>
          </a:p>
          <a:p>
            <a:r>
              <a:rPr sz="1200"/>
              <a:t>Answers: 1-I, 2-G, 3-H, 4-C, 5-B, 6-F, 7-J, 8-A, 9-D, 10-E.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Teach the 4-step routine one card at a time (one click per card).</a:t>
            </a:r>
          </a:p>
          <a:p>
            <a:r>
              <a:rPr sz="1200"/>
              <a:t>Then the check line: read the completed sentence again — sense + grammar.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Do the two EASIER demos together, then the two HARDER ones. One click each to reveal the answer.</a:t>
            </a:r>
          </a:p>
          <a:p>
            <a:r>
              <a:rPr sz="1200"/>
              <a:t>Demo 1: “may seem pleasant enough” → pleasant (straight lift).</a:t>
            </a:r>
          </a:p>
          <a:p>
            <a:r>
              <a:rPr sz="1200"/>
              <a:t>Demo 2: “have been around for decades” → decades (the -s matters).</a:t>
            </a:r>
          </a:p>
          <a:p>
            <a:r>
              <a:rPr sz="1200"/>
              <a:t>Demo 3: “an indictment of reality TV, but it is not an argument” → the words around the blanks fix the word class (an + noun).</a:t>
            </a:r>
          </a:p>
          <a:p>
            <a:r>
              <a:rPr sz="1200"/>
              <a:t>Demo 4: “absolutely crucial to…” and “reluctant to depict…” — the two words sit far apart; scan the whole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Ask students to answer before clicking. Then click once to reveal the answer and evidence.</a:t>
            </a:r>
          </a:p>
          <a:p>
            <a:r>
              <a:rPr sz="1200"/>
              <a:t>Expected: dystopia. Tip: “it” refers back to the noun before it — “Dystopia is an imaginary place …”.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One blank at a time — ask the class for the word before each click. The proof oval appears with its answer.</a:t>
            </a:r>
          </a:p>
          <a:p>
            <a:r>
              <a:rPr sz="1200"/>
              <a:t>Answers: (i) Rebecca Stead · (ii) crime rate · (iii) freedom // autonomy // adventure · (iv) safer · (v) protected // controlled.</a:t>
            </a:r>
          </a:p>
          <a:p>
            <a:r>
              <a:rPr sz="1200"/>
              <a:t>Item %: 91 / 78 / 74 / 59 / 45. (iii) comes from “a great deal of autonomy” / “a rare freedom”; (v) from “hovered-over teens”.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One blank at a time. Reveal the answer with its proof oval.</a:t>
            </a:r>
          </a:p>
          <a:p>
            <a:r>
              <a:rPr sz="1200"/>
              <a:t>Answers: (i) first · (ii) future · (iii) each · (iv) outdoor arena · (v) on television / TV · (vi) wins // lives.</a:t>
            </a:r>
          </a:p>
          <a:p>
            <a:r>
              <a:rPr sz="1200"/>
              <a:t>(i) is the hardest (24%): the text calls Mockingjay “the third installment”, so The Hunger Games is the first book. (ii) “futuristic North America”. (v) “televised contest”. (vi) “the last child left alive”.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Ask for the shared quality first: a flu spreads fast and hits everyone — so did the book.</a:t>
            </a:r>
          </a:p>
          <a:p>
            <a:r>
              <a:rPr sz="1200"/>
              <a:t>Expected: the interest in dystopian novels for young-adult readers spread very quickly // the book was infectious // it was popular / a big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Word-finding question: the answer must be the word printed in paragraph 7 — “catastrophe” (line 121) or “apocalypse” (line 124).</a:t>
            </a:r>
          </a:p>
          <a:p>
            <a:r>
              <a:rPr sz="1200"/>
              <a:t>Both are accepted; click to reveal the answer and circle the two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Reference question — the hardest item (18%). “feel the sting of this” points back to “Children, however, don’t run the world”.</a:t>
            </a:r>
          </a:p>
          <a:p>
            <a:r>
              <a:rPr sz="1200"/>
              <a:t>Expected: children not having control in the world // (children) don’t run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1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F.6 SP ENGLISH  •  2013 DSE PART B2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1"/>
          <p:cNvSpPr txBox="1"/>
          <p:nvPr/>
        </p:nvSpPr>
        <p:spPr>
          <a:xfrm>
            <a:off x="502920" y="82296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365D"/>
                </a:solidFill>
                <a:latin typeface="Aptos"/>
              </a:rPr>
              <a:t>English SP</a:t>
            </a:r>
          </a:p>
        </p:txBody>
      </p:sp>
      <p:sp>
        <p:nvSpPr>
          <p:cNvPr id="10" name="t2"/>
          <p:cNvSpPr txBox="1"/>
          <p:nvPr/>
        </p:nvSpPr>
        <p:spPr>
          <a:xfrm>
            <a:off x="502920" y="1645920"/>
            <a:ext cx="6766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7365D"/>
                </a:solidFill>
                <a:latin typeface="Aptos"/>
              </a:rPr>
              <a:t>The Triumph of Dystopian Literature</a:t>
            </a:r>
          </a:p>
          <a:p>
            <a:pPr algn="l"/>
            <a:r>
              <a:rPr sz="1000" b="0" i="0">
                <a:solidFill>
                  <a:srgbClr val="17365D"/>
                </a:solidFill>
                <a:latin typeface="Aptos"/>
              </a:rPr>
              <a:t/>
            </a:r>
          </a:p>
          <a:p>
            <a:pPr algn="l"/>
            <a:r>
              <a:rPr sz="1700" b="0" i="0">
                <a:solidFill>
                  <a:srgbClr val="5B7083"/>
                </a:solidFill>
                <a:latin typeface="Aptos"/>
              </a:rPr>
              <a:t>What’s behind the boom in dystopian fiction for young readers?</a:t>
            </a:r>
          </a:p>
        </p:txBody>
      </p:sp>
      <p:sp>
        <p:nvSpPr>
          <p:cNvPr id="11" name="t3"/>
          <p:cNvSpPr txBox="1"/>
          <p:nvPr/>
        </p:nvSpPr>
        <p:spPr>
          <a:xfrm>
            <a:off x="502920" y="329184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F75B5"/>
                </a:solidFill>
                <a:latin typeface="Aptos"/>
              </a:rPr>
              <a:t>Cloze / gap-fill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783080"/>
            <a:ext cx="3931920" cy="237744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4"/>
          <p:cNvSpPr txBox="1"/>
          <p:nvPr/>
        </p:nvSpPr>
        <p:spPr>
          <a:xfrm>
            <a:off x="7726679" y="20116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F75B5"/>
                </a:solidFill>
                <a:latin typeface="Aptos"/>
              </a:rPr>
              <a:t>TODAY’S lesson</a:t>
            </a:r>
          </a:p>
        </p:txBody>
      </p:sp>
      <p:sp>
        <p:nvSpPr>
          <p:cNvPr id="14" name="t5"/>
          <p:cNvSpPr txBox="1"/>
          <p:nvPr/>
        </p:nvSpPr>
        <p:spPr>
          <a:xfrm>
            <a:off x="7726679" y="2514600"/>
            <a:ext cx="3474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7365D"/>
                </a:solidFill>
                <a:latin typeface="Aptos"/>
              </a:rPr>
              <a:t>10 Vocabulary items</a:t>
            </a:r>
          </a:p>
          <a:p>
            <a:pPr algn="l"/>
            <a:r>
              <a:rPr sz="1600" b="0" i="0">
                <a:solidFill>
                  <a:srgbClr val="17365D"/>
                </a:solidFill>
                <a:latin typeface="Aptos"/>
              </a:rPr>
              <a:t>1 Exam tip — cloze questions</a:t>
            </a:r>
          </a:p>
          <a:p>
            <a:pPr algn="l"/>
            <a:r>
              <a:rPr sz="1600" b="0" i="0">
                <a:solidFill>
                  <a:srgbClr val="17365D"/>
                </a:solidFill>
                <a:latin typeface="Aptos"/>
              </a:rPr>
              <a:t>4 Demo questions</a:t>
            </a:r>
          </a:p>
          <a:p>
            <a:pPr algn="l"/>
            <a:r>
              <a:rPr sz="1600" b="1" i="0">
                <a:solidFill>
                  <a:srgbClr val="17365D"/>
                </a:solidFill>
                <a:latin typeface="Aptos"/>
              </a:rPr>
              <a:t>6 Exam questions (15 marks)</a:t>
            </a:r>
          </a:p>
        </p:txBody>
      </p:sp>
      <p:sp>
        <p:nvSpPr>
          <p:cNvPr id="15" name="t6"/>
          <p:cNvSpPr txBox="1"/>
          <p:nvPr/>
        </p:nvSpPr>
        <p:spPr>
          <a:xfrm>
            <a:off x="502920" y="6309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7083"/>
                </a:solidFill>
                <a:latin typeface="Aptos"/>
              </a:rPr>
              <a:t>DSE 2013 Part B2  •  Text 4 “The Triumph of Dystopian Literature”  •  Reading for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WARM-UP  •  PAIR WORK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Key vocabulary: match the meanings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1"/>
          <p:cNvSpPr txBox="1"/>
          <p:nvPr/>
        </p:nvSpPr>
        <p:spPr>
          <a:xfrm>
            <a:off x="685800" y="1389888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1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authoritarian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4</a:t>
            </a:r>
          </a:p>
        </p:txBody>
      </p:sp>
      <p:sp>
        <p:nvSpPr>
          <p:cNvPr id="12" name="blank1"/>
          <p:cNvSpPr txBox="1"/>
          <p:nvPr/>
        </p:nvSpPr>
        <p:spPr>
          <a:xfrm>
            <a:off x="3675887" y="1389888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13" name="vocab_ans_1"/>
          <p:cNvSpPr txBox="1"/>
          <p:nvPr/>
        </p:nvSpPr>
        <p:spPr>
          <a:xfrm>
            <a:off x="3986784" y="1389888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47088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2"/>
          <p:cNvSpPr txBox="1"/>
          <p:nvPr/>
        </p:nvSpPr>
        <p:spPr>
          <a:xfrm>
            <a:off x="685800" y="1865376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2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oppressive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5</a:t>
            </a:r>
          </a:p>
        </p:txBody>
      </p:sp>
      <p:sp>
        <p:nvSpPr>
          <p:cNvPr id="16" name="blank2"/>
          <p:cNvSpPr txBox="1"/>
          <p:nvPr/>
        </p:nvSpPr>
        <p:spPr>
          <a:xfrm>
            <a:off x="3675887" y="1865376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17" name="vocab_ans_2"/>
          <p:cNvSpPr txBox="1"/>
          <p:nvPr/>
        </p:nvSpPr>
        <p:spPr>
          <a:xfrm>
            <a:off x="3986784" y="1865376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322576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3"/>
          <p:cNvSpPr txBox="1"/>
          <p:nvPr/>
        </p:nvSpPr>
        <p:spPr>
          <a:xfrm>
            <a:off x="685800" y="2340864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3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conform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45</a:t>
            </a:r>
          </a:p>
        </p:txBody>
      </p:sp>
      <p:sp>
        <p:nvSpPr>
          <p:cNvPr id="20" name="blank3"/>
          <p:cNvSpPr txBox="1"/>
          <p:nvPr/>
        </p:nvSpPr>
        <p:spPr>
          <a:xfrm>
            <a:off x="3675887" y="2340864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21" name="vocab_ans_3"/>
          <p:cNvSpPr txBox="1"/>
          <p:nvPr/>
        </p:nvSpPr>
        <p:spPr>
          <a:xfrm>
            <a:off x="3986784" y="2340864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98064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w4"/>
          <p:cNvSpPr txBox="1"/>
          <p:nvPr/>
        </p:nvSpPr>
        <p:spPr>
          <a:xfrm>
            <a:off x="685800" y="281635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4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conducive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22</a:t>
            </a:r>
          </a:p>
        </p:txBody>
      </p:sp>
      <p:sp>
        <p:nvSpPr>
          <p:cNvPr id="24" name="blank4"/>
          <p:cNvSpPr txBox="1"/>
          <p:nvPr/>
        </p:nvSpPr>
        <p:spPr>
          <a:xfrm>
            <a:off x="3675887" y="2816352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25" name="vocab_ans_4"/>
          <p:cNvSpPr txBox="1"/>
          <p:nvPr/>
        </p:nvSpPr>
        <p:spPr>
          <a:xfrm>
            <a:off x="3986784" y="2816352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73552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5"/>
          <p:cNvSpPr txBox="1"/>
          <p:nvPr/>
        </p:nvSpPr>
        <p:spPr>
          <a:xfrm>
            <a:off x="685800" y="3291840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5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trilogy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25</a:t>
            </a:r>
          </a:p>
        </p:txBody>
      </p:sp>
      <p:sp>
        <p:nvSpPr>
          <p:cNvPr id="28" name="blank5"/>
          <p:cNvSpPr txBox="1"/>
          <p:nvPr/>
        </p:nvSpPr>
        <p:spPr>
          <a:xfrm>
            <a:off x="3675887" y="3291840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29" name="vocab_ans_5"/>
          <p:cNvSpPr txBox="1"/>
          <p:nvPr/>
        </p:nvSpPr>
        <p:spPr>
          <a:xfrm>
            <a:off x="3986784" y="3291840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749039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w6"/>
          <p:cNvSpPr txBox="1"/>
          <p:nvPr/>
        </p:nvSpPr>
        <p:spPr>
          <a:xfrm>
            <a:off x="685800" y="3767327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6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cliff-hanger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52</a:t>
            </a:r>
          </a:p>
        </p:txBody>
      </p:sp>
      <p:sp>
        <p:nvSpPr>
          <p:cNvPr id="32" name="blank6"/>
          <p:cNvSpPr txBox="1"/>
          <p:nvPr/>
        </p:nvSpPr>
        <p:spPr>
          <a:xfrm>
            <a:off x="3675887" y="3767327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33" name="vocab_ans_6"/>
          <p:cNvSpPr txBox="1"/>
          <p:nvPr/>
        </p:nvSpPr>
        <p:spPr>
          <a:xfrm>
            <a:off x="3986784" y="3767327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224528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w7"/>
          <p:cNvSpPr txBox="1"/>
          <p:nvPr/>
        </p:nvSpPr>
        <p:spPr>
          <a:xfrm>
            <a:off x="685800" y="4242816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7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façade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93</a:t>
            </a:r>
          </a:p>
        </p:txBody>
      </p:sp>
      <p:sp>
        <p:nvSpPr>
          <p:cNvPr id="36" name="blank7"/>
          <p:cNvSpPr txBox="1"/>
          <p:nvPr/>
        </p:nvSpPr>
        <p:spPr>
          <a:xfrm>
            <a:off x="3675887" y="4242816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37" name="vocab_ans_7"/>
          <p:cNvSpPr txBox="1"/>
          <p:nvPr/>
        </p:nvSpPr>
        <p:spPr>
          <a:xfrm>
            <a:off x="3986784" y="4242816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J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700016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w8"/>
          <p:cNvSpPr txBox="1"/>
          <p:nvPr/>
        </p:nvSpPr>
        <p:spPr>
          <a:xfrm>
            <a:off x="685800" y="4718304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8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utopia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93</a:t>
            </a:r>
          </a:p>
        </p:txBody>
      </p:sp>
      <p:sp>
        <p:nvSpPr>
          <p:cNvPr id="40" name="blank8"/>
          <p:cNvSpPr txBox="1"/>
          <p:nvPr/>
        </p:nvSpPr>
        <p:spPr>
          <a:xfrm>
            <a:off x="3675887" y="4718304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41" name="vocab_ans_8"/>
          <p:cNvSpPr txBox="1"/>
          <p:nvPr/>
        </p:nvSpPr>
        <p:spPr>
          <a:xfrm>
            <a:off x="3986784" y="4718304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175504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w9"/>
          <p:cNvSpPr txBox="1"/>
          <p:nvPr/>
        </p:nvSpPr>
        <p:spPr>
          <a:xfrm>
            <a:off x="685800" y="519379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9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didactic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140</a:t>
            </a:r>
          </a:p>
        </p:txBody>
      </p:sp>
      <p:sp>
        <p:nvSpPr>
          <p:cNvPr id="44" name="blank9"/>
          <p:cNvSpPr txBox="1"/>
          <p:nvPr/>
        </p:nvSpPr>
        <p:spPr>
          <a:xfrm>
            <a:off x="3675887" y="5193792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45" name="vocab_ans_9"/>
          <p:cNvSpPr txBox="1"/>
          <p:nvPr/>
        </p:nvSpPr>
        <p:spPr>
          <a:xfrm>
            <a:off x="3986784" y="5193792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650992"/>
            <a:ext cx="4206240" cy="384048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10"/>
          <p:cNvSpPr txBox="1"/>
          <p:nvPr/>
        </p:nvSpPr>
        <p:spPr>
          <a:xfrm>
            <a:off x="685800" y="5669279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65D"/>
                </a:solidFill>
                <a:latin typeface="Aptos"/>
              </a:rPr>
              <a:t>10   </a:t>
            </a:r>
            <a:r>
              <a:rPr sz="1500" b="0" i="0">
                <a:solidFill>
                  <a:srgbClr val="17365D"/>
                </a:solidFill>
                <a:latin typeface="Aptos"/>
              </a:rPr>
              <a:t>extinction</a:t>
            </a:r>
            <a:r>
              <a:rPr sz="1200" b="0" i="0">
                <a:solidFill>
                  <a:srgbClr val="5B7083"/>
                </a:solidFill>
                <a:latin typeface="Aptos"/>
              </a:rPr>
              <a:t>     Line 117</a:t>
            </a:r>
          </a:p>
        </p:txBody>
      </p:sp>
      <p:sp>
        <p:nvSpPr>
          <p:cNvPr id="48" name="blank10"/>
          <p:cNvSpPr txBox="1"/>
          <p:nvPr/>
        </p:nvSpPr>
        <p:spPr>
          <a:xfrm>
            <a:off x="3675887" y="5669279"/>
            <a:ext cx="822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____</a:t>
            </a:r>
          </a:p>
        </p:txBody>
      </p:sp>
      <p:sp>
        <p:nvSpPr>
          <p:cNvPr id="49" name="vocab_ans_10"/>
          <p:cNvSpPr txBox="1"/>
          <p:nvPr/>
        </p:nvSpPr>
        <p:spPr>
          <a:xfrm>
            <a:off x="3986784" y="5669279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E</a:t>
            </a:r>
          </a:p>
        </p:txBody>
      </p:sp>
      <p:sp>
        <p:nvSpPr>
          <p:cNvPr id="50" name="d1"/>
          <p:cNvSpPr txBox="1"/>
          <p:nvPr/>
        </p:nvSpPr>
        <p:spPr>
          <a:xfrm>
            <a:off x="5120640" y="1371600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A. an imagined perfect world, in which everything is good.</a:t>
            </a:r>
          </a:p>
        </p:txBody>
      </p:sp>
      <p:sp>
        <p:nvSpPr>
          <p:cNvPr id="51" name="d2"/>
          <p:cNvSpPr txBox="1"/>
          <p:nvPr/>
        </p:nvSpPr>
        <p:spPr>
          <a:xfrm>
            <a:off x="5120640" y="184708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B. a set of three connected books, films or plays.</a:t>
            </a:r>
          </a:p>
        </p:txBody>
      </p:sp>
      <p:sp>
        <p:nvSpPr>
          <p:cNvPr id="52" name="d3"/>
          <p:cNvSpPr txBox="1"/>
          <p:nvPr/>
        </p:nvSpPr>
        <p:spPr>
          <a:xfrm>
            <a:off x="5120640" y="2322576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C. making something more likely to happen; helpful for.</a:t>
            </a:r>
          </a:p>
        </p:txBody>
      </p:sp>
      <p:sp>
        <p:nvSpPr>
          <p:cNvPr id="53" name="d4"/>
          <p:cNvSpPr txBox="1"/>
          <p:nvPr/>
        </p:nvSpPr>
        <p:spPr>
          <a:xfrm>
            <a:off x="5120640" y="2798064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D. written to teach a moral lesson.</a:t>
            </a:r>
          </a:p>
        </p:txBody>
      </p:sp>
      <p:sp>
        <p:nvSpPr>
          <p:cNvPr id="54" name="d5"/>
          <p:cNvSpPr txBox="1"/>
          <p:nvPr/>
        </p:nvSpPr>
        <p:spPr>
          <a:xfrm>
            <a:off x="5120640" y="3273552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E. the state of no longer existing; being completely destroyed.</a:t>
            </a:r>
          </a:p>
        </p:txBody>
      </p:sp>
      <p:sp>
        <p:nvSpPr>
          <p:cNvPr id="55" name="d6"/>
          <p:cNvSpPr txBox="1"/>
          <p:nvPr/>
        </p:nvSpPr>
        <p:spPr>
          <a:xfrm>
            <a:off x="5120640" y="3749039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F. an exciting ending that leaves readers unsure what happens next.</a:t>
            </a:r>
          </a:p>
        </p:txBody>
      </p:sp>
      <p:sp>
        <p:nvSpPr>
          <p:cNvPr id="56" name="d7"/>
          <p:cNvSpPr txBox="1"/>
          <p:nvPr/>
        </p:nvSpPr>
        <p:spPr>
          <a:xfrm>
            <a:off x="5120640" y="422452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G. treating people in a harsh and controlling way.</a:t>
            </a:r>
          </a:p>
        </p:txBody>
      </p:sp>
      <p:sp>
        <p:nvSpPr>
          <p:cNvPr id="57" name="d8"/>
          <p:cNvSpPr txBox="1"/>
          <p:nvPr/>
        </p:nvSpPr>
        <p:spPr>
          <a:xfrm>
            <a:off x="5120640" y="4700016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H. to behave in the same way as everyone else; to follow a fixed standard.</a:t>
            </a:r>
          </a:p>
        </p:txBody>
      </p:sp>
      <p:sp>
        <p:nvSpPr>
          <p:cNvPr id="58" name="d9"/>
          <p:cNvSpPr txBox="1"/>
          <p:nvPr/>
        </p:nvSpPr>
        <p:spPr>
          <a:xfrm>
            <a:off x="5120640" y="5175504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I. demanding total obedience; allowing no personal choice.</a:t>
            </a:r>
          </a:p>
        </p:txBody>
      </p:sp>
      <p:sp>
        <p:nvSpPr>
          <p:cNvPr id="59" name="d10"/>
          <p:cNvSpPr txBox="1"/>
          <p:nvPr/>
        </p:nvSpPr>
        <p:spPr>
          <a:xfrm>
            <a:off x="5120640" y="5650992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7365D"/>
                </a:solidFill>
                <a:latin typeface="Aptos"/>
              </a:rPr>
              <a:t>J. an outward appearance that hides the truth.</a:t>
            </a:r>
          </a:p>
        </p:txBody>
      </p:sp>
      <p:sp>
        <p:nvSpPr>
          <p:cNvPr id="60" name="foot"/>
          <p:cNvSpPr txBox="1"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7083"/>
                </a:solidFill>
                <a:latin typeface="Aptos"/>
              </a:rPr>
              <a:t>Match the 10 words to the definitions — write the letter in the blank.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2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2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5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5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3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5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3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5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4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5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TIPS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What helps you gain the mark?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11155680" cy="457200"/>
          </a:xfrm>
          <a:prstGeom prst="round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nd"/>
          <p:cNvSpPr txBox="1"/>
          <p:nvPr/>
        </p:nvSpPr>
        <p:spPr>
          <a:xfrm>
            <a:off x="777240" y="126187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Reminders for CLOZE (gap-fill)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5486400" cy="1920240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p_55_195"/>
          <p:cNvSpPr txBox="1"/>
          <p:nvPr/>
        </p:nvSpPr>
        <p:spPr>
          <a:xfrm>
            <a:off x="758952" y="1929384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7365D"/>
                </a:solidFill>
                <a:latin typeface="Aptos"/>
              </a:rPr>
              <a:t>1   Read the whole summary carefully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The summary is a PARAPHRASE of the text — the words around the blank are usually different.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The question tells you where to look: “Based on paragraph 3 …”.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486400" cy="192024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p_680_195"/>
          <p:cNvSpPr txBox="1"/>
          <p:nvPr/>
        </p:nvSpPr>
        <p:spPr>
          <a:xfrm>
            <a:off x="6473952" y="1929384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7365D"/>
                </a:solidFill>
                <a:latin typeface="Aptos"/>
              </a:rPr>
              <a:t>2   Use the words around the blank to find the word class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a / an + ______  = noun        a higher ______  = comparative + noun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more ______  = adjective        was ______ by  = past participle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shown ______  = adverb or preposition phrase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486400" cy="192024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p_55_420"/>
          <p:cNvSpPr txBox="1"/>
          <p:nvPr/>
        </p:nvSpPr>
        <p:spPr>
          <a:xfrm>
            <a:off x="758952" y="3986784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7365D"/>
                </a:solidFill>
                <a:latin typeface="Aptos"/>
              </a:rPr>
              <a:t>3   Hunt for the matching idea in the paragraph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warn us about the dangers of some current trend ↔ warn readers about today’s problems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quaint, outdated problems ↔ old-fashioned problems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486400" cy="1920240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p_680_420"/>
          <p:cNvSpPr txBox="1"/>
          <p:nvPr/>
        </p:nvSpPr>
        <p:spPr>
          <a:xfrm>
            <a:off x="6473952" y="3986784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7365D"/>
                </a:solidFill>
                <a:latin typeface="Aptos"/>
              </a:rPr>
              <a:t>4   Copy the EXACT word from the text — then check the form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ONE word per blank — if the text prints a fixed pair, the pair counts as one answer.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Keep the text’s form: -s, -ed, -ing, -er — and check the spelling.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97880"/>
            <a:ext cx="11155680" cy="548640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p_bottom"/>
          <p:cNvSpPr txBox="1"/>
          <p:nvPr/>
        </p:nvSpPr>
        <p:spPr>
          <a:xfrm>
            <a:off x="777240" y="601675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Then read your completed sentence again — does it make sense, and is it grammatical?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EXAM TIPS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Cloze questions — 4 quick demos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mo_note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7083"/>
                </a:solidFill>
                <a:latin typeface="Aptos"/>
              </a:rPr>
              <a:t>(demo — taken from other paragraphs, NOT from the 6 questions you will do)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81328"/>
            <a:ext cx="5440680" cy="2103120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h_55"/>
          <p:cNvSpPr txBox="1"/>
          <p:nvPr/>
        </p:nvSpPr>
        <p:spPr>
          <a:xfrm>
            <a:off x="731520" y="1600200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75B5"/>
                </a:solidFill>
                <a:latin typeface="Aptos"/>
              </a:rPr>
              <a:t>EASIER 1  ·  paragraph 6 (line 84)</a:t>
            </a:r>
          </a:p>
        </p:txBody>
      </p:sp>
      <p:sp>
        <p:nvSpPr>
          <p:cNvPr id="13" name="ds_55"/>
          <p:cNvSpPr txBox="1"/>
          <p:nvPr/>
        </p:nvSpPr>
        <p:spPr>
          <a:xfrm>
            <a:off x="731520" y="1938528"/>
            <a:ext cx="4983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At the start of a dystopian story, the fictional world may seem (i) ______ enough.</a:t>
            </a:r>
          </a:p>
        </p:txBody>
      </p:sp>
      <p:sp>
        <p:nvSpPr>
          <p:cNvPr id="14" name="demo_ans_55"/>
          <p:cNvSpPr txBox="1"/>
          <p:nvPr/>
        </p:nvSpPr>
        <p:spPr>
          <a:xfrm>
            <a:off x="731520" y="294436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(i)  pleasant</a:t>
            </a:r>
            <a:r>
              <a:rPr sz="1100" b="0" i="0">
                <a:solidFill>
                  <a:srgbClr val="5B7083"/>
                </a:solidFill>
                <a:latin typeface="Aptos"/>
              </a:rPr>
              <a:t>      1 mark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81328"/>
            <a:ext cx="5440680" cy="2103120"/>
          </a:xfrm>
          <a:prstGeom prst="round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h_685"/>
          <p:cNvSpPr txBox="1"/>
          <p:nvPr/>
        </p:nvSpPr>
        <p:spPr>
          <a:xfrm>
            <a:off x="6492240" y="1600200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75B5"/>
                </a:solidFill>
                <a:latin typeface="Aptos"/>
              </a:rPr>
              <a:t>EASIER 2  ·  paragraph 5 (lines 57–58)</a:t>
            </a:r>
          </a:p>
        </p:txBody>
      </p:sp>
      <p:sp>
        <p:nvSpPr>
          <p:cNvPr id="17" name="ds_685"/>
          <p:cNvSpPr txBox="1"/>
          <p:nvPr/>
        </p:nvSpPr>
        <p:spPr>
          <a:xfrm>
            <a:off x="6492240" y="1938528"/>
            <a:ext cx="4983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Dystopian novels for young-adult readers have been around for (i) ______.</a:t>
            </a:r>
          </a:p>
        </p:txBody>
      </p:sp>
      <p:sp>
        <p:nvSpPr>
          <p:cNvPr id="18" name="demo_ans_685"/>
          <p:cNvSpPr txBox="1"/>
          <p:nvPr/>
        </p:nvSpPr>
        <p:spPr>
          <a:xfrm>
            <a:off x="6492240" y="294436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(i)  decades   —  watch the plural -s!</a:t>
            </a:r>
            <a:r>
              <a:rPr sz="1100" b="0" i="0">
                <a:solidFill>
                  <a:srgbClr val="5B7083"/>
                </a:solidFill>
                <a:latin typeface="Aptos"/>
              </a:rPr>
              <a:t>      1 mark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5440680" cy="210312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h_55"/>
          <p:cNvSpPr txBox="1"/>
          <p:nvPr/>
        </p:nvSpPr>
        <p:spPr>
          <a:xfrm>
            <a:off x="731520" y="3867911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75B5"/>
                </a:solidFill>
                <a:latin typeface="Aptos"/>
              </a:rPr>
              <a:t>HARDER 1  ·  paragraph 9 (lines 141–143)</a:t>
            </a:r>
          </a:p>
        </p:txBody>
      </p:sp>
      <p:sp>
        <p:nvSpPr>
          <p:cNvPr id="21" name="ds_55"/>
          <p:cNvSpPr txBox="1"/>
          <p:nvPr/>
        </p:nvSpPr>
        <p:spPr>
          <a:xfrm>
            <a:off x="731520" y="4206240"/>
            <a:ext cx="4983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The Hunger Games could be taken as an (i) ______ of reality TV, but it is not an (ii) ______.</a:t>
            </a:r>
          </a:p>
        </p:txBody>
      </p:sp>
      <p:sp>
        <p:nvSpPr>
          <p:cNvPr id="22" name="demo_ans_55"/>
          <p:cNvSpPr txBox="1"/>
          <p:nvPr/>
        </p:nvSpPr>
        <p:spPr>
          <a:xfrm>
            <a:off x="731520" y="5212079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(i)  indictment       (ii)  argument</a:t>
            </a:r>
            <a:r>
              <a:rPr sz="1100" b="0" i="0">
                <a:solidFill>
                  <a:srgbClr val="5B7083"/>
                </a:solidFill>
                <a:latin typeface="Aptos"/>
              </a:rPr>
              <a:t>      2 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49039"/>
            <a:ext cx="5440680" cy="210312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h_685"/>
          <p:cNvSpPr txBox="1"/>
          <p:nvPr/>
        </p:nvSpPr>
        <p:spPr>
          <a:xfrm>
            <a:off x="6492240" y="3867911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75B5"/>
                </a:solidFill>
                <a:latin typeface="Aptos"/>
              </a:rPr>
              <a:t>HARDER 2  ·  paragraph 7 (lines 110–117)</a:t>
            </a:r>
          </a:p>
        </p:txBody>
      </p:sp>
      <p:sp>
        <p:nvSpPr>
          <p:cNvPr id="25" name="ds_685"/>
          <p:cNvSpPr txBox="1"/>
          <p:nvPr/>
        </p:nvSpPr>
        <p:spPr>
          <a:xfrm>
            <a:off x="6492240" y="4206240"/>
            <a:ext cx="4983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Sambell argues that the protagonist’s final defeat is (i) ______ to the admonitory nature of the classic adult dystopia, and that children’s authors are (ii) ______ to depict the extinction of hope.</a:t>
            </a:r>
          </a:p>
        </p:txBody>
      </p:sp>
      <p:sp>
        <p:nvSpPr>
          <p:cNvPr id="26" name="demo_ans_685"/>
          <p:cNvSpPr txBox="1"/>
          <p:nvPr/>
        </p:nvSpPr>
        <p:spPr>
          <a:xfrm>
            <a:off x="6492240" y="5212079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  <a:latin typeface="Aptos"/>
              </a:rPr>
              <a:t>(i)  crucial            (ii)  reluctant</a:t>
            </a:r>
            <a:r>
              <a:rPr sz="1100" b="0" i="0">
                <a:solidFill>
                  <a:srgbClr val="5B7083"/>
                </a:solidFill>
                <a:latin typeface="Aptos"/>
              </a:rPr>
              <a:t>      2 marks</a:t>
            </a:r>
          </a:p>
        </p:txBody>
      </p:sp>
      <p:sp>
        <p:nvSpPr>
          <p:cNvPr id="27" name="demo_foot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5B5"/>
                </a:solidFill>
                <a:latin typeface="Aptos"/>
              </a:rPr>
              <a:t>1  word class  →  2  find the paragraph  →  3  copy the exact word  →  4  check the 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QUESTION 1 OF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ner"/>
          <p:cNvSpPr txBox="1"/>
          <p:nvPr/>
        </p:nvSpPr>
        <p:spPr>
          <a:xfrm>
            <a:off x="8503920" y="25603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B7083"/>
                </a:solidFill>
                <a:latin typeface="Aptos"/>
              </a:rPr>
              <a:t>(88%)</a:t>
            </a:r>
          </a:p>
        </p:txBody>
      </p:sp>
      <p:sp>
        <p:nvSpPr>
          <p:cNvPr id="11" name="stem"/>
          <p:cNvSpPr txBox="1"/>
          <p:nvPr/>
        </p:nvSpPr>
        <p:spPr>
          <a:xfrm>
            <a:off x="502920" y="12618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7365D"/>
                </a:solidFill>
                <a:latin typeface="Aptos"/>
              </a:rPr>
              <a:t>1.  What does </a:t>
            </a:r>
            <a:r>
              <a:rPr sz="2000" b="1" i="0">
                <a:solidFill>
                  <a:srgbClr val="FF0000"/>
                </a:solidFill>
                <a:latin typeface="Aptos"/>
              </a:rPr>
              <a:t>“it”</a:t>
            </a:r>
            <a:r>
              <a:rPr sz="2000" b="1" i="0">
                <a:solidFill>
                  <a:srgbClr val="17365D"/>
                </a:solidFill>
                <a:latin typeface="Aptos"/>
              </a:rPr>
              <a:t> (line 6) refer to?</a:t>
            </a:r>
          </a:p>
        </p:txBody>
      </p:sp>
      <p:pic>
        <p:nvPicPr>
          <p:cNvPr id="12" name="q47_pic" descr="q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6400800" cy="2796327"/>
          </a:xfrm>
          <a:prstGeom prst="rect">
            <a:avLst/>
          </a:prstGeom>
        </p:spPr>
      </p:pic>
      <p:sp>
        <p:nvSpPr>
          <p:cNvPr id="13" name="oval_q47_0"/>
          <p:cNvSpPr/>
          <p:nvPr/>
        </p:nvSpPr>
        <p:spPr>
          <a:xfrm>
            <a:off x="2176729" y="4295301"/>
            <a:ext cx="1058052" cy="350379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ns1"/>
          <p:cNvSpPr txBox="1"/>
          <p:nvPr/>
        </p:nvSpPr>
        <p:spPr>
          <a:xfrm>
            <a:off x="502920" y="1755648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0000"/>
                </a:solidFill>
                <a:latin typeface="Aptos"/>
              </a:rPr>
              <a:t>dystopia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F75B5"/>
                </a:solidFill>
                <a:latin typeface="Aptos"/>
              </a:rPr>
              <a:t>Evidence &amp; explanation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Read backwards — find the noun before “it”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(1 mark · 88%)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3" presetClass="entr" presetSubtype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linds(horizontal)">
                          <p:cBhvr>
                            <p:cTn id="5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QUESTION 2 OF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Read the paragraph — then complete the summary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ner"/>
          <p:cNvSpPr txBox="1"/>
          <p:nvPr/>
        </p:nvSpPr>
        <p:spPr>
          <a:xfrm>
            <a:off x="8503920" y="25603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B7083"/>
                </a:solidFill>
                <a:latin typeface="Aptos"/>
              </a:rPr>
              <a:t>(91 / 78 / 74 / 59 / 45%)</a:t>
            </a:r>
          </a:p>
        </p:txBody>
      </p:sp>
      <p:sp>
        <p:nvSpPr>
          <p:cNvPr id="11" name="stem"/>
          <p:cNvSpPr txBox="1"/>
          <p:nvPr/>
        </p:nvSpPr>
        <p:spPr>
          <a:xfrm>
            <a:off x="502920" y="1261872"/>
            <a:ext cx="667512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Aptos"/>
              </a:rPr>
              <a:t>2.  Based on paragraph 2, complete the text with ONE word in each blank.  (5 marks)</a:t>
            </a:r>
          </a:p>
          <a:p>
            <a:pPr algn="l"/>
            <a:r>
              <a:rPr sz="1200" b="0" i="0">
                <a:solidFill>
                  <a:srgbClr val="5B7083"/>
                </a:solidFill>
                <a:latin typeface="Aptos"/>
              </a:rPr>
              <a:t>Check the grammar — word form, plurals etc.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The novel When You Reach Me takes place in New York City (NYC) where (i) ______ grew up. In the 1970s, NYC had a higher (ii) ______ , but children back then had more (iii) ______ . In contrast, NYC today is (iv) ______ yet children are more (v) ______ by their parents. As a result, children don’t walk the streets alone.</a:t>
            </a:r>
          </a:p>
        </p:txBody>
      </p:sp>
      <p:pic>
        <p:nvPicPr>
          <p:cNvPr id="12" name="q48a_pic" descr="q4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26280"/>
            <a:ext cx="2971800" cy="1301202"/>
          </a:xfrm>
          <a:prstGeom prst="rect">
            <a:avLst/>
          </a:prstGeom>
        </p:spPr>
      </p:pic>
      <p:pic>
        <p:nvPicPr>
          <p:cNvPr id="13" name="q48b_pic" descr="q4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4526280"/>
            <a:ext cx="2971800" cy="1137355"/>
          </a:xfrm>
          <a:prstGeom prst="rect">
            <a:avLst/>
          </a:prstGeom>
        </p:spPr>
      </p:pic>
      <p:sp>
        <p:nvSpPr>
          <p:cNvPr id="14" name="oval_q48a_0"/>
          <p:cNvSpPr/>
          <p:nvPr/>
        </p:nvSpPr>
        <p:spPr>
          <a:xfrm>
            <a:off x="1301739" y="4546186"/>
            <a:ext cx="921555" cy="133097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_q48a_1"/>
          <p:cNvSpPr/>
          <p:nvPr/>
        </p:nvSpPr>
        <p:spPr>
          <a:xfrm>
            <a:off x="1564446" y="5524578"/>
            <a:ext cx="649041" cy="149751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_q48b_0"/>
          <p:cNvSpPr/>
          <p:nvPr/>
        </p:nvSpPr>
        <p:spPr>
          <a:xfrm>
            <a:off x="5381106" y="4706429"/>
            <a:ext cx="487078" cy="133406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_q48b_1"/>
          <p:cNvSpPr/>
          <p:nvPr/>
        </p:nvSpPr>
        <p:spPr>
          <a:xfrm>
            <a:off x="6538622" y="4873158"/>
            <a:ext cx="330166" cy="126696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_q48b_2"/>
          <p:cNvSpPr/>
          <p:nvPr/>
        </p:nvSpPr>
        <p:spPr>
          <a:xfrm>
            <a:off x="4217052" y="5056606"/>
            <a:ext cx="227045" cy="109977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_q48b_3"/>
          <p:cNvSpPr/>
          <p:nvPr/>
        </p:nvSpPr>
        <p:spPr>
          <a:xfrm>
            <a:off x="4594174" y="5196609"/>
            <a:ext cx="756917" cy="130108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_q48b_4"/>
          <p:cNvSpPr/>
          <p:nvPr/>
        </p:nvSpPr>
        <p:spPr>
          <a:xfrm>
            <a:off x="4223887" y="5356742"/>
            <a:ext cx="313524" cy="150124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_q48b_5"/>
          <p:cNvSpPr/>
          <p:nvPr/>
        </p:nvSpPr>
        <p:spPr>
          <a:xfrm>
            <a:off x="6278293" y="5356742"/>
            <a:ext cx="590496" cy="14671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s1"/>
          <p:cNvSpPr txBox="1"/>
          <p:nvPr/>
        </p:nvSpPr>
        <p:spPr>
          <a:xfrm>
            <a:off x="502920" y="278892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0000"/>
                </a:solidFill>
                <a:latin typeface="Aptos"/>
              </a:rPr>
              <a:t>(i)  Rebecca Stead</a:t>
            </a:r>
          </a:p>
        </p:txBody>
      </p:sp>
      <p:sp>
        <p:nvSpPr>
          <p:cNvPr id="23" name="ans2"/>
          <p:cNvSpPr txBox="1"/>
          <p:nvPr/>
        </p:nvSpPr>
        <p:spPr>
          <a:xfrm>
            <a:off x="502920" y="3118104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0000"/>
                </a:solidFill>
                <a:latin typeface="Aptos"/>
              </a:rPr>
              <a:t>(ii)  crime rate</a:t>
            </a:r>
          </a:p>
        </p:txBody>
      </p:sp>
      <p:sp>
        <p:nvSpPr>
          <p:cNvPr id="24" name="ans3"/>
          <p:cNvSpPr txBox="1"/>
          <p:nvPr/>
        </p:nvSpPr>
        <p:spPr>
          <a:xfrm>
            <a:off x="502920" y="3447288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0000"/>
                </a:solidFill>
                <a:latin typeface="Aptos"/>
              </a:rPr>
              <a:t>(iii)  freedom  //  autonomy  //  adventure</a:t>
            </a:r>
          </a:p>
        </p:txBody>
      </p:sp>
      <p:sp>
        <p:nvSpPr>
          <p:cNvPr id="25" name="ans4"/>
          <p:cNvSpPr txBox="1"/>
          <p:nvPr/>
        </p:nvSpPr>
        <p:spPr>
          <a:xfrm>
            <a:off x="502920" y="3776472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0000"/>
                </a:solidFill>
                <a:latin typeface="Aptos"/>
              </a:rPr>
              <a:t>(iv)  safer</a:t>
            </a:r>
          </a:p>
        </p:txBody>
      </p:sp>
      <p:sp>
        <p:nvSpPr>
          <p:cNvPr id="26" name="ans5"/>
          <p:cNvSpPr txBox="1"/>
          <p:nvPr/>
        </p:nvSpPr>
        <p:spPr>
          <a:xfrm>
            <a:off x="502920" y="4105656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0000"/>
                </a:solidFill>
                <a:latin typeface="Aptos"/>
              </a:rPr>
              <a:t>(v)  protected  //  controlled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F75B5"/>
                </a:solidFill>
                <a:latin typeface="Aptos"/>
              </a:rPr>
              <a:t>Evidence &amp; explanation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Watch the FORM, not just the word: comparative -er · past participle -ed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(5 marks · 91 / 78 / 74 / 59 / 45%)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3" presetClass="entr" presetSubtype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linds(horizontal)">
                          <p:cBhvr>
                            <p:cTn id="5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" dur="5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id="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"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id="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id="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id="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4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" dur="5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"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id="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QUESTION 3 OF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Read the paragraph — then complete the synopsis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ner"/>
          <p:cNvSpPr txBox="1"/>
          <p:nvPr/>
        </p:nvSpPr>
        <p:spPr>
          <a:xfrm>
            <a:off x="8503920" y="25603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B7083"/>
                </a:solidFill>
                <a:latin typeface="Aptos"/>
              </a:rPr>
              <a:t>(24 / 21 / 68 / 88 / 38 / 46%)</a:t>
            </a:r>
          </a:p>
        </p:txBody>
      </p:sp>
      <p:sp>
        <p:nvSpPr>
          <p:cNvPr id="11" name="stem"/>
          <p:cNvSpPr txBox="1"/>
          <p:nvPr/>
        </p:nvSpPr>
        <p:spPr>
          <a:xfrm>
            <a:off x="502920" y="1261872"/>
            <a:ext cx="667512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Aptos"/>
              </a:rPr>
              <a:t>3.  Based on paragraph 3, complete the book synopsis with ONE word in each blank.  (6 marks)</a:t>
            </a:r>
          </a:p>
          <a:p>
            <a:pPr algn="l"/>
            <a:r>
              <a:rPr sz="1200" b="0" i="0">
                <a:solidFill>
                  <a:srgbClr val="5B7083"/>
                </a:solidFill>
                <a:latin typeface="Aptos"/>
              </a:rPr>
              <a:t>Check the grammar — word form, plurals etc.</a:t>
            </a:r>
          </a:p>
          <a:p>
            <a:pPr algn="l"/>
            <a:r>
              <a:rPr sz="1300" b="0" i="0">
                <a:solidFill>
                  <a:srgbClr val="17365D"/>
                </a:solidFill>
                <a:latin typeface="Aptos"/>
              </a:rPr>
              <a:t>The Hunger Games is the (i) ______ book in a trilogy of novels written by Suzanne Collins. The story takes place some time in the (ii) ______ . Two children from (iii) ______ district are forced to compete in the Hunger Games. The contest is held in an (iv) ______ and shown (v) ______ . The sole survivor (vi) ______ .</a:t>
            </a:r>
          </a:p>
        </p:txBody>
      </p:sp>
      <p:pic>
        <p:nvPicPr>
          <p:cNvPr id="12" name="q51a_pic" descr="q5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663440"/>
            <a:ext cx="2971800" cy="1293529"/>
          </a:xfrm>
          <a:prstGeom prst="rect">
            <a:avLst/>
          </a:prstGeom>
        </p:spPr>
      </p:pic>
      <p:pic>
        <p:nvPicPr>
          <p:cNvPr id="13" name="q51b_pic" descr="q5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4663440"/>
            <a:ext cx="2971800" cy="1148650"/>
          </a:xfrm>
          <a:prstGeom prst="rect">
            <a:avLst/>
          </a:prstGeom>
        </p:spPr>
      </p:pic>
      <p:sp>
        <p:nvSpPr>
          <p:cNvPr id="14" name="oval_q51a_0"/>
          <p:cNvSpPr/>
          <p:nvPr/>
        </p:nvSpPr>
        <p:spPr>
          <a:xfrm>
            <a:off x="811392" y="5170928"/>
            <a:ext cx="507583" cy="12936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_q51a_1"/>
          <p:cNvSpPr/>
          <p:nvPr/>
        </p:nvSpPr>
        <p:spPr>
          <a:xfrm>
            <a:off x="3172785" y="5333408"/>
            <a:ext cx="272216" cy="126128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_q51a_2"/>
          <p:cNvSpPr/>
          <p:nvPr/>
        </p:nvSpPr>
        <p:spPr>
          <a:xfrm>
            <a:off x="804854" y="5655261"/>
            <a:ext cx="504017" cy="12936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_q51a_3"/>
          <p:cNvSpPr/>
          <p:nvPr/>
        </p:nvSpPr>
        <p:spPr>
          <a:xfrm>
            <a:off x="2333845" y="5814377"/>
            <a:ext cx="838939" cy="205686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_q51b_0"/>
          <p:cNvSpPr/>
          <p:nvPr/>
        </p:nvSpPr>
        <p:spPr>
          <a:xfrm>
            <a:off x="6334460" y="4683425"/>
            <a:ext cx="537598" cy="13358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_q51b_1"/>
          <p:cNvSpPr/>
          <p:nvPr/>
        </p:nvSpPr>
        <p:spPr>
          <a:xfrm>
            <a:off x="5529696" y="4847101"/>
            <a:ext cx="964943" cy="13358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s1"/>
          <p:cNvSpPr txBox="1"/>
          <p:nvPr/>
        </p:nvSpPr>
        <p:spPr>
          <a:xfrm>
            <a:off x="502920" y="274320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0000"/>
                </a:solidFill>
                <a:latin typeface="Aptos"/>
              </a:rPr>
              <a:t>(i)  first</a:t>
            </a:r>
          </a:p>
        </p:txBody>
      </p:sp>
      <p:sp>
        <p:nvSpPr>
          <p:cNvPr id="21" name="ans2"/>
          <p:cNvSpPr txBox="1"/>
          <p:nvPr/>
        </p:nvSpPr>
        <p:spPr>
          <a:xfrm>
            <a:off x="502920" y="3044952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0000"/>
                </a:solidFill>
                <a:latin typeface="Aptos"/>
              </a:rPr>
              <a:t>(ii)  future</a:t>
            </a:r>
          </a:p>
        </p:txBody>
      </p:sp>
      <p:sp>
        <p:nvSpPr>
          <p:cNvPr id="22" name="ans3"/>
          <p:cNvSpPr txBox="1"/>
          <p:nvPr/>
        </p:nvSpPr>
        <p:spPr>
          <a:xfrm>
            <a:off x="502920" y="3346704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0000"/>
                </a:solidFill>
                <a:latin typeface="Aptos"/>
              </a:rPr>
              <a:t>(iii)  each</a:t>
            </a:r>
          </a:p>
        </p:txBody>
      </p:sp>
      <p:sp>
        <p:nvSpPr>
          <p:cNvPr id="23" name="ans4"/>
          <p:cNvSpPr txBox="1"/>
          <p:nvPr/>
        </p:nvSpPr>
        <p:spPr>
          <a:xfrm>
            <a:off x="502920" y="3648456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0000"/>
                </a:solidFill>
                <a:latin typeface="Aptos"/>
              </a:rPr>
              <a:t>(iv)  outdoor arena</a:t>
            </a:r>
          </a:p>
        </p:txBody>
      </p:sp>
      <p:sp>
        <p:nvSpPr>
          <p:cNvPr id="24" name="ans5"/>
          <p:cNvSpPr txBox="1"/>
          <p:nvPr/>
        </p:nvSpPr>
        <p:spPr>
          <a:xfrm>
            <a:off x="502920" y="3950208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0000"/>
                </a:solidFill>
                <a:latin typeface="Aptos"/>
              </a:rPr>
              <a:t>(v)  on television  //  TV</a:t>
            </a:r>
          </a:p>
        </p:txBody>
      </p:sp>
      <p:sp>
        <p:nvSpPr>
          <p:cNvPr id="25" name="ans6"/>
          <p:cNvSpPr txBox="1"/>
          <p:nvPr/>
        </p:nvSpPr>
        <p:spPr>
          <a:xfrm>
            <a:off x="502920" y="425196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0000"/>
                </a:solidFill>
                <a:latin typeface="Aptos"/>
              </a:rPr>
              <a:t>(vi)  wins  //  lives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F75B5"/>
                </a:solidFill>
                <a:latin typeface="Aptos"/>
              </a:rPr>
              <a:t>Evidence &amp; explanation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The third book is Mockingjay — so this one is …?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(6 marks · 24 / 21 / 68 / 88 / 38 / 46%)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3" presetClass="entr" presetSubtype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linds(horizontal)">
                          <p:cBhvr>
                            <p:cTn id="5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"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id="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3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" dur="5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id="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4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id="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" dur="5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id="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QUESTION 4 OF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ner"/>
          <p:cNvSpPr txBox="1"/>
          <p:nvPr/>
        </p:nvSpPr>
        <p:spPr>
          <a:xfrm>
            <a:off x="8503920" y="25603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B7083"/>
                </a:solidFill>
                <a:latin typeface="Aptos"/>
              </a:rPr>
              <a:t>(23%)</a:t>
            </a:r>
          </a:p>
        </p:txBody>
      </p:sp>
      <p:sp>
        <p:nvSpPr>
          <p:cNvPr id="11" name="stem"/>
          <p:cNvSpPr txBox="1"/>
          <p:nvPr/>
        </p:nvSpPr>
        <p:spPr>
          <a:xfrm>
            <a:off x="502920" y="1261872"/>
            <a:ext cx="6675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7365D"/>
                </a:solidFill>
                <a:latin typeface="Aptos"/>
              </a:rPr>
              <a:t>4.  What does the simile </a:t>
            </a:r>
            <a:r>
              <a:rPr sz="2000" b="1" i="0">
                <a:solidFill>
                  <a:srgbClr val="FF0000"/>
                </a:solidFill>
                <a:latin typeface="Aptos"/>
              </a:rPr>
              <a:t>“like a wicked strain of the flu”</a:t>
            </a:r>
            <a:r>
              <a:rPr sz="2000" b="1" i="0">
                <a:solidFill>
                  <a:srgbClr val="17365D"/>
                </a:solidFill>
                <a:latin typeface="Aptos"/>
              </a:rPr>
              <a:t> (lines 68–69) suggest about the book The White Mountains?</a:t>
            </a:r>
          </a:p>
        </p:txBody>
      </p:sp>
      <p:pic>
        <p:nvPicPr>
          <p:cNvPr id="12" name="q55_pic" descr="q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20440"/>
            <a:ext cx="6400800" cy="1798632"/>
          </a:xfrm>
          <a:prstGeom prst="rect">
            <a:avLst/>
          </a:prstGeom>
        </p:spPr>
      </p:pic>
      <p:sp>
        <p:nvSpPr>
          <p:cNvPr id="13" name="oval_q55_0"/>
          <p:cNvSpPr/>
          <p:nvPr/>
        </p:nvSpPr>
        <p:spPr>
          <a:xfrm>
            <a:off x="1143640" y="4984166"/>
            <a:ext cx="3254806" cy="305767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ns1"/>
          <p:cNvSpPr txBox="1"/>
          <p:nvPr/>
        </p:nvSpPr>
        <p:spPr>
          <a:xfrm>
            <a:off x="502920" y="2121408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0000"/>
                </a:solidFill>
                <a:latin typeface="Aptos"/>
              </a:rPr>
              <a:t>the interest in dystopian novels for young-adult readers spread very quickly  //  the book was infectious  //  it was popular / a big hit (among teens, among her classmates)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F75B5"/>
                </a:solidFill>
                <a:latin typeface="Aptos"/>
              </a:rPr>
              <a:t>Evidence &amp; explanation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What did the book do to her whole class?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(1 mark · 23%)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3" presetClass="entr" presetSubtype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linds(horizontal)">
                          <p:cBhvr>
                            <p:cTn id="5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QUESTION 5 OF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ner"/>
          <p:cNvSpPr txBox="1"/>
          <p:nvPr/>
        </p:nvSpPr>
        <p:spPr>
          <a:xfrm>
            <a:off x="8503920" y="25603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B7083"/>
                </a:solidFill>
                <a:latin typeface="Aptos"/>
              </a:rPr>
              <a:t>(69%)</a:t>
            </a:r>
          </a:p>
        </p:txBody>
      </p:sp>
      <p:sp>
        <p:nvSpPr>
          <p:cNvPr id="11" name="stem"/>
          <p:cNvSpPr txBox="1"/>
          <p:nvPr/>
        </p:nvSpPr>
        <p:spPr>
          <a:xfrm>
            <a:off x="502920" y="12618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7365D"/>
                </a:solidFill>
                <a:latin typeface="Aptos"/>
              </a:rPr>
              <a:t>5.  In paragraph 7, find a word which means “a major disaster”.</a:t>
            </a:r>
          </a:p>
        </p:txBody>
      </p:sp>
      <p:pic>
        <p:nvPicPr>
          <p:cNvPr id="12" name="q59a_pic" descr="q5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88920"/>
            <a:ext cx="3154680" cy="1698135"/>
          </a:xfrm>
          <a:prstGeom prst="rect">
            <a:avLst/>
          </a:prstGeom>
        </p:spPr>
      </p:pic>
      <p:pic>
        <p:nvPicPr>
          <p:cNvPr id="13" name="q59b_pic" descr="q5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2788920"/>
            <a:ext cx="3154680" cy="1848821"/>
          </a:xfrm>
          <a:prstGeom prst="rect">
            <a:avLst/>
          </a:prstGeom>
        </p:spPr>
      </p:pic>
      <p:sp>
        <p:nvSpPr>
          <p:cNvPr id="14" name="oval_q59b_0"/>
          <p:cNvSpPr/>
          <p:nvPr/>
        </p:nvSpPr>
        <p:spPr>
          <a:xfrm>
            <a:off x="4113405" y="3833766"/>
            <a:ext cx="694029" cy="164927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_q59b_1"/>
          <p:cNvSpPr/>
          <p:nvPr/>
        </p:nvSpPr>
        <p:spPr>
          <a:xfrm>
            <a:off x="4797024" y="4328547"/>
            <a:ext cx="646078" cy="164927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s1"/>
          <p:cNvSpPr txBox="1"/>
          <p:nvPr/>
        </p:nvSpPr>
        <p:spPr>
          <a:xfrm>
            <a:off x="502920" y="1755648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0000"/>
                </a:solidFill>
                <a:latin typeface="Aptos"/>
              </a:rPr>
              <a:t>catastrophe   //   apocalypse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F75B5"/>
                </a:solidFill>
                <a:latin typeface="Aptos"/>
              </a:rPr>
              <a:t>Evidence &amp; explanation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Look for a NOUN — and do not write “disaster”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(1 mark · 69%)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3" presetClass="entr" presetSubtype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linds(horizontal)">
                          <p:cBhvr>
                            <p:cTn id="5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" dur="5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188952" cy="6473952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5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502920" y="274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5B7A5"/>
                </a:solidFill>
                <a:latin typeface="Aptos"/>
              </a:rPr>
              <a:t>QUESTION 6 OF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Aptos"/>
              </a:rPr>
              <a:t>Read the paragraph — then write your answer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84048"/>
            <a:ext cx="438912" cy="438912"/>
          </a:xfrm>
          <a:prstGeom prst="ellipse">
            <a:avLst/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46536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1112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4008" y="18288"/>
            <a:ext cx="109728" cy="109728"/>
          </a:xfrm>
          <a:prstGeom prst="ellipse">
            <a:avLst/>
          </a:prstGeom>
          <a:solidFill>
            <a:srgbClr val="F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rner"/>
          <p:cNvSpPr txBox="1"/>
          <p:nvPr/>
        </p:nvSpPr>
        <p:spPr>
          <a:xfrm>
            <a:off x="8503920" y="25603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B7083"/>
                </a:solidFill>
                <a:latin typeface="Aptos"/>
              </a:rPr>
              <a:t>(18%)</a:t>
            </a:r>
          </a:p>
        </p:txBody>
      </p:sp>
      <p:sp>
        <p:nvSpPr>
          <p:cNvPr id="11" name="stem"/>
          <p:cNvSpPr txBox="1"/>
          <p:nvPr/>
        </p:nvSpPr>
        <p:spPr>
          <a:xfrm>
            <a:off x="502920" y="12618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7365D"/>
                </a:solidFill>
                <a:latin typeface="Aptos"/>
              </a:rPr>
              <a:t>6.  What does </a:t>
            </a:r>
            <a:r>
              <a:rPr sz="2000" b="1" i="0">
                <a:solidFill>
                  <a:srgbClr val="FF0000"/>
                </a:solidFill>
                <a:latin typeface="Aptos"/>
              </a:rPr>
              <a:t>“this”</a:t>
            </a:r>
            <a:r>
              <a:rPr sz="2000" b="1" i="0">
                <a:solidFill>
                  <a:srgbClr val="17365D"/>
                </a:solidFill>
                <a:latin typeface="Aptos"/>
              </a:rPr>
              <a:t> (line 139) refer to?</a:t>
            </a:r>
          </a:p>
        </p:txBody>
      </p:sp>
      <p:pic>
        <p:nvPicPr>
          <p:cNvPr id="12" name="q62_pic" descr="q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88920"/>
            <a:ext cx="6400800" cy="3124060"/>
          </a:xfrm>
          <a:prstGeom prst="rect">
            <a:avLst/>
          </a:prstGeom>
        </p:spPr>
      </p:pic>
      <p:sp>
        <p:nvSpPr>
          <p:cNvPr id="13" name="oval_q62_0"/>
          <p:cNvSpPr/>
          <p:nvPr/>
        </p:nvSpPr>
        <p:spPr>
          <a:xfrm>
            <a:off x="1084112" y="2824221"/>
            <a:ext cx="4639299" cy="56358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ns1"/>
          <p:cNvSpPr txBox="1"/>
          <p:nvPr/>
        </p:nvSpPr>
        <p:spPr>
          <a:xfrm>
            <a:off x="502920" y="1755648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children not having control in the world   //   (children) don’t run the world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194560"/>
            <a:ext cx="4389120" cy="411480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xp"/>
          <p:cNvSpPr txBox="1"/>
          <p:nvPr/>
        </p:nvSpPr>
        <p:spPr>
          <a:xfrm>
            <a:off x="7470648" y="2322576"/>
            <a:ext cx="3986784" cy="3858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F75B5"/>
                </a:solidFill>
                <a:latin typeface="Aptos"/>
              </a:rPr>
              <a:t>Evidence &amp; explanation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Read back to the subject of the paragraph</a:t>
            </a:r>
          </a:p>
          <a:p>
            <a:pPr algn="l"/>
            <a:r>
              <a:rPr sz="2200" b="1" i="0">
                <a:solidFill>
                  <a:srgbClr val="FF0000"/>
                </a:solidFill>
                <a:latin typeface="Aptos"/>
              </a:rPr>
              <a:t>(1 mark · 18%)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presetID="3" presetClass="entr" presetSubtype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linds(horizontal)">
                          <p:cBhvr>
                            <p:cTn id="5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